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7"/>
  </p:handoutMasterIdLst>
  <p:sldIdLst>
    <p:sldId id="256" r:id="rId3"/>
    <p:sldId id="257" r:id="rId5"/>
    <p:sldId id="258" r:id="rId6"/>
    <p:sldId id="259" r:id="rId7"/>
    <p:sldId id="260" r:id="rId8"/>
    <p:sldId id="261" r:id="rId9"/>
    <p:sldId id="262" r:id="rId10"/>
    <p:sldId id="263" r:id="rId11"/>
    <p:sldId id="269" r:id="rId12"/>
    <p:sldId id="264" r:id="rId13"/>
    <p:sldId id="265" r:id="rId14"/>
    <p:sldId id="266" r:id="rId15"/>
    <p:sldId id="267"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6"/>
          </a:xfrm>
          <a:prstGeom prst="rect">
            <a:avLst/>
          </a:prstGeom>
        </p:spPr>
        <p:txBody>
          <a:bodyPr vert="horz" lIns="91440" tIns="45720" rIns="91440" bIns="45720" rtlCol="0"/>
          <a:lstStyle>
            <a:lvl1pPr algn="l">
              <a:defRPr sz="1800"/>
            </a:lvl1pPr>
          </a:lstStyle>
          <a:p>
            <a:endParaRPr lang="en-US"/>
          </a:p>
        </p:txBody>
      </p:sp>
      <p:sp>
        <p:nvSpPr>
          <p:cNvPr id="3" name="Date Placeholder 2"/>
          <p:cNvSpPr>
            <a:spLocks noGrp="1"/>
          </p:cNvSpPr>
          <p:nvPr>
            <p:ph type="dt" sz="quarter" idx="1"/>
          </p:nvPr>
        </p:nvSpPr>
        <p:spPr>
          <a:xfrm>
            <a:off x="5826920" y="0"/>
            <a:ext cx="4457700" cy="917576"/>
          </a:xfrm>
          <a:prstGeom prst="rect">
            <a:avLst/>
          </a:prstGeom>
        </p:spPr>
        <p:txBody>
          <a:bodyPr vert="horz" lIns="91440" tIns="45720" rIns="91440" bIns="45720" rtlCol="0"/>
          <a:lstStyle>
            <a:lvl1pPr algn="r">
              <a:defRPr sz="18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17370426"/>
            <a:ext cx="4457700" cy="917574"/>
          </a:xfrm>
          <a:prstGeom prst="rect">
            <a:avLst/>
          </a:prstGeom>
        </p:spPr>
        <p:txBody>
          <a:bodyPr vert="horz" lIns="91440" tIns="45720" rIns="91440" bIns="45720" rtlCol="0" anchor="b"/>
          <a:lstStyle>
            <a:lvl1pPr algn="l">
              <a:defRPr sz="1800"/>
            </a:lvl1pPr>
          </a:lstStyle>
          <a:p>
            <a:endParaRPr lang="en-US"/>
          </a:p>
        </p:txBody>
      </p:sp>
      <p:sp>
        <p:nvSpPr>
          <p:cNvPr id="5" name="Slide Number Placeholder 4"/>
          <p:cNvSpPr>
            <a:spLocks noGrp="1"/>
          </p:cNvSpPr>
          <p:nvPr>
            <p:ph type="sldNum" sz="quarter" idx="3"/>
          </p:nvPr>
        </p:nvSpPr>
        <p:spPr>
          <a:xfrm>
            <a:off x="5826920" y="17370426"/>
            <a:ext cx="4457700" cy="917574"/>
          </a:xfrm>
          <a:prstGeom prst="rect">
            <a:avLst/>
          </a:prstGeom>
        </p:spPr>
        <p:txBody>
          <a:bodyPr vert="horz" lIns="91440" tIns="45720" rIns="91440" bIns="45720" rtlCol="0" anchor="b"/>
          <a:lstStyle>
            <a:lvl1pPr algn="r">
              <a:defRPr sz="18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walk through ARM — Argent Resource Management System — covering its roles, access model, and the key background functions that power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 is a cloud-based regulatory management platform. At its core, it keeps companies synchronized with the latest federal regulations, manages user roles, and ensures the right people receive the right information at the right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built around four distinct roles. Each role has a carefully scoped set of permissions — from platform-wide control at the Super Admin level, down to task-focused access for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shows exactly which modules each role can access. Notice how access narrows as we move from Super Admin down to Customer and Employee — this is by design, ensuring data security and role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sees a completely different dashboard tailored to their scope. Super Admin sees platform health across all companies. Admin sees their company operations. Customer sees subscriptions and notices. Employee sees their profile and assigned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 Admin operates at the platform level — managing all companies, users, and system configurations. Admin operates at the company level — handling everything from customers to organizational structure and regulatory subscriptions.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interact primarily with their subscribed regulations and change notices. Employees focus on their assigned regulatory tasks. Both can raise grievances through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24 hours, an Azure Function reaches out to eCFR — the Electronic Code of Federal Regulations — fetches the latest data, compares it against what we have, and updates our records. If anything changed, it creates notification records for all affected subscribers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notification system uses an outbox pattern — a proven approach for guaranteed delivery. Every notification gets queued in an Outbox table. A timer function runs every 2 minutes, picks up pending items, and dispatches emails. Every attempt — success or failure — is logged, with automatic retries. Nothing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A5CC8"/>
          </a:solidFill>
        </p:spPr>
      </p:sp>
      <p:sp>
        <p:nvSpPr>
          <p:cNvPr id="3" name="Shape 1"/>
          <p:cNvSpPr/>
          <p:nvPr/>
        </p:nvSpPr>
        <p:spPr>
          <a:xfrm>
            <a:off x="0" y="0"/>
            <a:ext cx="18288000" cy="10287000"/>
          </a:xfrm>
          <a:prstGeom prst="rect">
            <a:avLst/>
          </a:prstGeom>
          <a:solidFill>
            <a:srgbClr val="FFFFFF">
              <a:alpha val="4000"/>
            </a:srgbClr>
          </a:solidFill>
        </p:spPr>
        <p:txBody>
          <a:bodyPr/>
          <a:p>
            <a:endParaRPr lang="en-US"/>
          </a:p>
        </p:txBody>
      </p:sp>
      <p:sp>
        <p:nvSpPr>
          <p:cNvPr id="4" name="Shape 2"/>
          <p:cNvSpPr/>
          <p:nvPr/>
        </p:nvSpPr>
        <p:spPr>
          <a:xfrm>
            <a:off x="8763000" y="1561207"/>
            <a:ext cx="762000" cy="762000"/>
          </a:xfrm>
          <a:prstGeom prst="roundRect">
            <a:avLst>
              <a:gd name="adj" fmla="val 25000"/>
            </a:avLst>
          </a:prstGeom>
          <a:solidFill>
            <a:srgbClr val="FFFFFF">
              <a:alpha val="20000"/>
            </a:srgbClr>
          </a:solidFill>
          <a:ln w="19050">
            <a:solidFill>
              <a:srgbClr val="FFFFFF">
                <a:alpha val="40000"/>
              </a:srgbClr>
            </a:solidFill>
            <a:prstDash val="solid"/>
          </a:ln>
        </p:spPr>
      </p:sp>
      <p:sp>
        <p:nvSpPr>
          <p:cNvPr id="5" name="Text 3"/>
          <p:cNvSpPr/>
          <p:nvPr/>
        </p:nvSpPr>
        <p:spPr>
          <a:xfrm>
            <a:off x="8743950" y="1580257"/>
            <a:ext cx="800100" cy="762000"/>
          </a:xfrm>
          <a:prstGeom prst="rect">
            <a:avLst/>
          </a:prstGeom>
          <a:noFill/>
        </p:spPr>
        <p:txBody>
          <a:bodyPr wrap="square" lIns="25400" tIns="25400" rIns="25400" bIns="25400" rtlCol="0" anchor="ctr">
            <a:normAutofit/>
          </a:bodyPr>
          <a:lstStyle/>
          <a:p>
            <a:pPr marL="0" indent="0" algn="ctr">
              <a:buNone/>
            </a:pPr>
            <a:r>
              <a:rPr lang="en-US" sz="2700" b="1" dirty="0">
                <a:solidFill>
                  <a:srgbClr val="FFFFFF"/>
                </a:solidFill>
                <a:latin typeface="Arial" panose="020B0604020202020204" pitchFamily="34" charset="0"/>
                <a:ea typeface="Arial" panose="020B0604020202020204" pitchFamily="34" charset="-122"/>
                <a:cs typeface="Arial" panose="020B0604020202020204" pitchFamily="34" charset="-120"/>
              </a:rPr>
              <a:t>A</a:t>
            </a:r>
            <a:endParaRPr lang="en-US" sz="2700" dirty="0"/>
          </a:p>
        </p:txBody>
      </p:sp>
      <p:sp>
        <p:nvSpPr>
          <p:cNvPr id="6" name="Text 4"/>
          <p:cNvSpPr/>
          <p:nvPr/>
        </p:nvSpPr>
        <p:spPr>
          <a:xfrm>
            <a:off x="8042225" y="2970907"/>
            <a:ext cx="2203549" cy="838200"/>
          </a:xfrm>
          <a:prstGeom prst="rect">
            <a:avLst/>
          </a:prstGeom>
          <a:noFill/>
        </p:spPr>
        <p:txBody>
          <a:bodyPr wrap="square" lIns="25400" tIns="25400" rIns="25400" bIns="25400" rtlCol="0" anchor="t">
            <a:normAutofit fontScale="80000"/>
          </a:bodyPr>
          <a:lstStyle/>
          <a:p>
            <a:pPr marL="0" indent="0" algn="ctr">
              <a:lnSpc>
                <a:spcPct val="100000"/>
              </a:lnSpc>
              <a:buNone/>
            </a:pPr>
            <a:r>
              <a:rPr lang="en-US" sz="6300" b="1" kern="0" spc="-150" dirty="0">
                <a:solidFill>
                  <a:srgbClr val="FFFFFF"/>
                </a:solidFill>
                <a:latin typeface="Arial" panose="020B0604020202020204" pitchFamily="34" charset="0"/>
                <a:ea typeface="Arial" panose="020B0604020202020204" pitchFamily="34" charset="-122"/>
                <a:cs typeface="Arial" panose="020B0604020202020204" pitchFamily="34" charset="-120"/>
              </a:rPr>
              <a:t>ARM</a:t>
            </a:r>
            <a:endParaRPr lang="en-US" sz="6300" dirty="0"/>
          </a:p>
        </p:txBody>
      </p:sp>
      <p:sp>
        <p:nvSpPr>
          <p:cNvPr id="7" name="Text 5"/>
          <p:cNvSpPr/>
          <p:nvPr/>
        </p:nvSpPr>
        <p:spPr>
          <a:xfrm>
            <a:off x="6946392" y="4285357"/>
            <a:ext cx="4395216" cy="333375"/>
          </a:xfrm>
          <a:prstGeom prst="rect">
            <a:avLst/>
          </a:prstGeom>
          <a:noFill/>
        </p:spPr>
        <p:txBody>
          <a:bodyPr wrap="square" lIns="25400" tIns="25400" rIns="25400" bIns="25400" rtlCol="0" anchor="t">
            <a:noAutofit/>
          </a:bodyPr>
          <a:lstStyle/>
          <a:p>
            <a:pPr marL="0" indent="0" algn="ctr">
              <a:buNone/>
            </a:pPr>
            <a:r>
              <a:rPr lang="en-US" altLang="en-US" sz="2400" dirty="0">
                <a:solidFill>
                  <a:schemeClr val="bg1"/>
                </a:solidFill>
                <a:latin typeface="Arial" panose="020B0604020202020204" pitchFamily="34" charset="0"/>
                <a:cs typeface="Arial" panose="020B0604020202020204" pitchFamily="34" charset="0"/>
              </a:rPr>
              <a:t>Akeepo Regulatory Manager</a:t>
            </a:r>
            <a:endParaRPr lang="en-US" altLang="en-US" sz="2400" dirty="0">
              <a:solidFill>
                <a:schemeClr val="bg1"/>
              </a:solidFill>
              <a:latin typeface="Arial" panose="020B0604020202020204" pitchFamily="34" charset="0"/>
              <a:cs typeface="Arial" panose="020B0604020202020204" pitchFamily="34" charset="0"/>
            </a:endParaRPr>
          </a:p>
        </p:txBody>
      </p:sp>
      <p:sp>
        <p:nvSpPr>
          <p:cNvPr id="8" name="Shape 6"/>
          <p:cNvSpPr/>
          <p:nvPr/>
        </p:nvSpPr>
        <p:spPr>
          <a:xfrm>
            <a:off x="8839200" y="5266432"/>
            <a:ext cx="609600" cy="28575"/>
          </a:xfrm>
          <a:prstGeom prst="roundRect">
            <a:avLst>
              <a:gd name="adj" fmla="val 50000"/>
            </a:avLst>
          </a:prstGeom>
          <a:solidFill>
            <a:srgbClr val="FFFFFF">
              <a:alpha val="40000"/>
            </a:srgbClr>
          </a:solidFill>
        </p:spPr>
      </p:sp>
      <p:sp>
        <p:nvSpPr>
          <p:cNvPr id="9" name="Text 7"/>
          <p:cNvSpPr/>
          <p:nvPr/>
        </p:nvSpPr>
        <p:spPr>
          <a:xfrm>
            <a:off x="6102668" y="5980807"/>
            <a:ext cx="6082665" cy="1592461"/>
          </a:xfrm>
          <a:prstGeom prst="rect">
            <a:avLst/>
          </a:prstGeom>
          <a:noFill/>
        </p:spPr>
        <p:txBody>
          <a:bodyPr wrap="square" lIns="25400" tIns="25400" rIns="25400" bIns="25400" rtlCol="0" anchor="t">
            <a:normAutofit/>
          </a:bodyPr>
          <a:lstStyle/>
          <a:p>
            <a:pPr marL="0" indent="0" algn="ctr">
              <a:lnSpc>
                <a:spcPct val="170000"/>
              </a:lnSpc>
              <a:buNone/>
            </a:pPr>
            <a:r>
              <a:rPr lang="en-US" sz="1800" dirty="0">
                <a:solidFill>
                  <a:srgbClr val="D0E8FF"/>
                </a:solidFill>
                <a:latin typeface="Arial" panose="020B0604020202020204" pitchFamily="34" charset="0"/>
                <a:ea typeface="Arial" panose="020B0604020202020204" pitchFamily="34" charset="-122"/>
                <a:cs typeface="Arial" panose="020B0604020202020204" pitchFamily="34" charset="-120"/>
              </a:rPr>
              <a:t>A role-based regulatory management platform — keeping companies synchronized with federal regulations, managing access, and ensuring the right people receive the right information.</a:t>
            </a:r>
            <a:endParaRPr lang="en-US" sz="1800" dirty="0"/>
          </a:p>
        </p:txBody>
      </p:sp>
      <p:sp>
        <p:nvSpPr>
          <p:cNvPr id="10" name="Shape 8"/>
          <p:cNvSpPr/>
          <p:nvPr/>
        </p:nvSpPr>
        <p:spPr>
          <a:xfrm>
            <a:off x="3486745" y="8220968"/>
            <a:ext cx="2185988" cy="504825"/>
          </a:xfrm>
          <a:prstGeom prst="roundRect">
            <a:avLst>
              <a:gd name="adj" fmla="val 50000"/>
            </a:avLst>
          </a:prstGeom>
          <a:solidFill>
            <a:srgbClr val="FFFFFF">
              <a:alpha val="18000"/>
            </a:srgbClr>
          </a:solidFill>
          <a:ln w="9525">
            <a:solidFill>
              <a:srgbClr val="FFFFFF">
                <a:alpha val="35000"/>
              </a:srgbClr>
            </a:solidFill>
            <a:prstDash val="solid"/>
          </a:ln>
        </p:spPr>
      </p:sp>
      <p:sp>
        <p:nvSpPr>
          <p:cNvPr id="11" name="Text 9"/>
          <p:cNvSpPr/>
          <p:nvPr/>
        </p:nvSpPr>
        <p:spPr>
          <a:xfrm>
            <a:off x="3724910" y="8325485"/>
            <a:ext cx="2064385" cy="33337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Roles &amp; Access</a:t>
            </a:r>
            <a:endParaRPr lang="en-US" sz="1800" dirty="0"/>
          </a:p>
        </p:txBody>
      </p:sp>
      <p:sp>
        <p:nvSpPr>
          <p:cNvPr id="12" name="Shape 10"/>
          <p:cNvSpPr/>
          <p:nvPr/>
        </p:nvSpPr>
        <p:spPr>
          <a:xfrm>
            <a:off x="5787033" y="8220968"/>
            <a:ext cx="1712119" cy="504825"/>
          </a:xfrm>
          <a:prstGeom prst="roundRect">
            <a:avLst>
              <a:gd name="adj" fmla="val 50000"/>
            </a:avLst>
          </a:prstGeom>
          <a:solidFill>
            <a:srgbClr val="FFFFFF">
              <a:alpha val="18000"/>
            </a:srgbClr>
          </a:solidFill>
          <a:ln w="9525">
            <a:solidFill>
              <a:srgbClr val="FFFFFF">
                <a:alpha val="35000"/>
              </a:srgbClr>
            </a:solidFill>
            <a:prstDash val="solid"/>
          </a:ln>
        </p:spPr>
      </p:sp>
      <p:sp>
        <p:nvSpPr>
          <p:cNvPr id="13" name="Text 11"/>
          <p:cNvSpPr/>
          <p:nvPr/>
        </p:nvSpPr>
        <p:spPr>
          <a:xfrm>
            <a:off x="6024880" y="8325485"/>
            <a:ext cx="1481455" cy="33337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eCFR Sync</a:t>
            </a:r>
            <a:endParaRPr lang="en-US" sz="1800" dirty="0"/>
          </a:p>
        </p:txBody>
      </p:sp>
      <p:sp>
        <p:nvSpPr>
          <p:cNvPr id="14" name="Shape 12"/>
          <p:cNvSpPr/>
          <p:nvPr/>
        </p:nvSpPr>
        <p:spPr>
          <a:xfrm>
            <a:off x="7613452" y="8220968"/>
            <a:ext cx="2667595" cy="504825"/>
          </a:xfrm>
          <a:prstGeom prst="roundRect">
            <a:avLst>
              <a:gd name="adj" fmla="val 50000"/>
            </a:avLst>
          </a:prstGeom>
          <a:solidFill>
            <a:srgbClr val="FFFFFF">
              <a:alpha val="18000"/>
            </a:srgbClr>
          </a:solidFill>
          <a:ln w="9525">
            <a:solidFill>
              <a:srgbClr val="FFFFFF">
                <a:alpha val="35000"/>
              </a:srgbClr>
            </a:solidFill>
            <a:prstDash val="solid"/>
          </a:ln>
        </p:spPr>
      </p:sp>
      <p:sp>
        <p:nvSpPr>
          <p:cNvPr id="15" name="Text 13"/>
          <p:cNvSpPr/>
          <p:nvPr/>
        </p:nvSpPr>
        <p:spPr>
          <a:xfrm>
            <a:off x="7849663" y="8325743"/>
            <a:ext cx="2195173" cy="33337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 Engine</a:t>
            </a:r>
            <a:endParaRPr lang="en-US" sz="1800" dirty="0"/>
          </a:p>
        </p:txBody>
      </p:sp>
      <p:sp>
        <p:nvSpPr>
          <p:cNvPr id="16" name="Shape 14"/>
          <p:cNvSpPr/>
          <p:nvPr/>
        </p:nvSpPr>
        <p:spPr>
          <a:xfrm>
            <a:off x="10395347" y="8220968"/>
            <a:ext cx="1959620" cy="504825"/>
          </a:xfrm>
          <a:prstGeom prst="roundRect">
            <a:avLst>
              <a:gd name="adj" fmla="val 50000"/>
            </a:avLst>
          </a:prstGeom>
          <a:solidFill>
            <a:srgbClr val="FFFFFF">
              <a:alpha val="18000"/>
            </a:srgbClr>
          </a:solidFill>
          <a:ln w="9525">
            <a:solidFill>
              <a:srgbClr val="FFFFFF">
                <a:alpha val="35000"/>
              </a:srgbClr>
            </a:solidFill>
            <a:prstDash val="solid"/>
          </a:ln>
        </p:spPr>
      </p:sp>
      <p:sp>
        <p:nvSpPr>
          <p:cNvPr id="17" name="Text 15"/>
          <p:cNvSpPr/>
          <p:nvPr/>
        </p:nvSpPr>
        <p:spPr>
          <a:xfrm>
            <a:off x="10633472" y="8325743"/>
            <a:ext cx="1483370" cy="33337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Multi-Tenant</a:t>
            </a:r>
            <a:endParaRPr lang="en-US" sz="1800" dirty="0"/>
          </a:p>
        </p:txBody>
      </p:sp>
      <p:sp>
        <p:nvSpPr>
          <p:cNvPr id="18" name="Shape 16"/>
          <p:cNvSpPr/>
          <p:nvPr/>
        </p:nvSpPr>
        <p:spPr>
          <a:xfrm>
            <a:off x="12469267" y="8220968"/>
            <a:ext cx="2331988" cy="504825"/>
          </a:xfrm>
          <a:prstGeom prst="roundRect">
            <a:avLst>
              <a:gd name="adj" fmla="val 50000"/>
            </a:avLst>
          </a:prstGeom>
          <a:solidFill>
            <a:srgbClr val="FFFFFF">
              <a:alpha val="18000"/>
            </a:srgbClr>
          </a:solidFill>
          <a:ln w="9525">
            <a:solidFill>
              <a:srgbClr val="FFFFFF">
                <a:alpha val="35000"/>
              </a:srgbClr>
            </a:solidFill>
            <a:prstDash val="solid"/>
          </a:ln>
        </p:spPr>
      </p:sp>
      <p:sp>
        <p:nvSpPr>
          <p:cNvPr id="19" name="Text 17"/>
          <p:cNvSpPr/>
          <p:nvPr/>
        </p:nvSpPr>
        <p:spPr>
          <a:xfrm>
            <a:off x="12707392" y="8325743"/>
            <a:ext cx="1855738" cy="33337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Azure Functions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OVERVIEW</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What is ARM?</a:t>
            </a:r>
            <a:endParaRPr lang="en-US" sz="3000" dirty="0"/>
          </a:p>
        </p:txBody>
      </p:sp>
      <p:sp>
        <p:nvSpPr>
          <p:cNvPr id="6" name="Text 4"/>
          <p:cNvSpPr/>
          <p:nvPr/>
        </p:nvSpPr>
        <p:spPr>
          <a:xfrm>
            <a:off x="685800" y="1609725"/>
            <a:ext cx="9367273" cy="1152525"/>
          </a:xfrm>
          <a:prstGeom prst="rect">
            <a:avLst/>
          </a:prstGeom>
          <a:noFill/>
        </p:spPr>
        <p:txBody>
          <a:bodyPr wrap="square" lIns="25400" tIns="25400" rIns="25400" bIns="25400" rtlCol="0" anchor="t">
            <a:normAutofit/>
          </a:bodyPr>
          <a:lstStyle/>
          <a:p>
            <a:pPr marL="0" indent="0" algn="l">
              <a:lnSpc>
                <a:spcPct val="150000"/>
              </a:lnSpc>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ARM is a </a:t>
            </a:r>
            <a:r>
              <a:rPr lang="en-US" sz="1950" b="1" dirty="0">
                <a:solidFill>
                  <a:srgbClr val="7EC8FF"/>
                </a:solidFill>
                <a:latin typeface="Arial" panose="020B0604020202020204" pitchFamily="34" charset="0"/>
                <a:ea typeface="Arial" panose="020B0604020202020204" pitchFamily="34" charset="-122"/>
                <a:cs typeface="Arial" panose="020B0604020202020204" pitchFamily="34" charset="-120"/>
              </a:rPr>
              <a:t>multi-tenant regulatory management platform </a:t>
            </a: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built to help companies stay current with federal regulations while managing their users, workflows, and notifications in one place.</a:t>
            </a:r>
            <a:endParaRPr lang="en-US" sz="1950" dirty="0"/>
          </a:p>
        </p:txBody>
      </p:sp>
      <p:sp>
        <p:nvSpPr>
          <p:cNvPr id="7" name="Text 5"/>
          <p:cNvSpPr/>
          <p:nvPr/>
        </p:nvSpPr>
        <p:spPr>
          <a:xfrm>
            <a:off x="685800" y="2933700"/>
            <a:ext cx="9367273" cy="1203871"/>
          </a:xfrm>
          <a:prstGeom prst="rect">
            <a:avLst/>
          </a:prstGeom>
          <a:noFill/>
        </p:spPr>
        <p:txBody>
          <a:bodyPr wrap="square" lIns="25400" tIns="25400" rIns="25400" bIns="25400" rtlCol="0" anchor="t">
            <a:normAutofit/>
          </a:bodyPr>
          <a:lstStyle/>
          <a:p>
            <a:pPr marL="0" indent="0" algn="l">
              <a:lnSpc>
                <a:spcPct val="17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The platform connects directly to the Electronic Code of Federal Regulations (eCFR), automatically syncing the latest regulatory data every 24 hours. When changes are detected, the right users are notified immediately through a reliable email delivery system.</a:t>
            </a:r>
            <a:endParaRPr lang="en-US" sz="1800" dirty="0"/>
          </a:p>
        </p:txBody>
      </p:sp>
      <p:sp>
        <p:nvSpPr>
          <p:cNvPr id="8" name="Shape 6"/>
          <p:cNvSpPr/>
          <p:nvPr/>
        </p:nvSpPr>
        <p:spPr>
          <a:xfrm>
            <a:off x="685800" y="4309021"/>
            <a:ext cx="2942481" cy="1047750"/>
          </a:xfrm>
          <a:prstGeom prst="roundRect">
            <a:avLst>
              <a:gd name="adj" fmla="val 9091"/>
            </a:avLst>
          </a:prstGeom>
          <a:solidFill>
            <a:srgbClr val="1E60C8"/>
          </a:solidFill>
          <a:ln w="9525">
            <a:solidFill>
              <a:srgbClr val="FFFFFF">
                <a:alpha val="25000"/>
              </a:srgbClr>
            </a:solidFill>
            <a:prstDash val="solid"/>
          </a:ln>
        </p:spPr>
      </p:sp>
      <p:sp>
        <p:nvSpPr>
          <p:cNvPr id="9" name="Text 7"/>
          <p:cNvSpPr/>
          <p:nvPr/>
        </p:nvSpPr>
        <p:spPr>
          <a:xfrm>
            <a:off x="828067" y="4489996"/>
            <a:ext cx="2657947" cy="400050"/>
          </a:xfrm>
          <a:prstGeom prst="rect">
            <a:avLst/>
          </a:prstGeom>
          <a:noFill/>
        </p:spPr>
        <p:txBody>
          <a:bodyPr wrap="square" lIns="25400" tIns="25400" rIns="25400" bIns="25400" rtlCol="0" anchor="t">
            <a:normAutofit/>
          </a:bodyPr>
          <a:lstStyle/>
          <a:p>
            <a:pPr marL="0" indent="0" algn="ctr">
              <a:lnSpc>
                <a:spcPct val="100000"/>
              </a:lnSpc>
              <a:buNone/>
            </a:pPr>
            <a:r>
              <a:rPr lang="en-US" sz="2850" b="1" dirty="0">
                <a:solidFill>
                  <a:srgbClr val="7EC8FF"/>
                </a:solidFill>
                <a:latin typeface="Arial" panose="020B0604020202020204" pitchFamily="34" charset="0"/>
                <a:ea typeface="Arial" panose="020B0604020202020204" pitchFamily="34" charset="-122"/>
                <a:cs typeface="Arial" panose="020B0604020202020204" pitchFamily="34" charset="-120"/>
              </a:rPr>
              <a:t>4</a:t>
            </a:r>
            <a:endParaRPr lang="en-US" sz="2850" dirty="0"/>
          </a:p>
        </p:txBody>
      </p:sp>
      <p:sp>
        <p:nvSpPr>
          <p:cNvPr id="10" name="Text 8"/>
          <p:cNvSpPr/>
          <p:nvPr/>
        </p:nvSpPr>
        <p:spPr>
          <a:xfrm>
            <a:off x="828067" y="4909096"/>
            <a:ext cx="2657947" cy="304800"/>
          </a:xfrm>
          <a:prstGeom prst="rect">
            <a:avLst/>
          </a:prstGeom>
          <a:noFill/>
        </p:spPr>
        <p:txBody>
          <a:bodyPr wrap="square" lIns="25400" tIns="25400" rIns="25400" bIns="25400" rtlCol="0" anchor="t">
            <a:normAutofit/>
          </a:bodyPr>
          <a:lstStyle/>
          <a:p>
            <a:pPr marL="0" indent="0" algn="ctr">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User Roles</a:t>
            </a:r>
            <a:endParaRPr lang="en-US" sz="1800" dirty="0"/>
          </a:p>
        </p:txBody>
      </p:sp>
      <p:sp>
        <p:nvSpPr>
          <p:cNvPr id="11" name="Shape 9"/>
          <p:cNvSpPr/>
          <p:nvPr/>
        </p:nvSpPr>
        <p:spPr>
          <a:xfrm>
            <a:off x="3761631" y="4309021"/>
            <a:ext cx="2942630" cy="1047750"/>
          </a:xfrm>
          <a:prstGeom prst="roundRect">
            <a:avLst>
              <a:gd name="adj" fmla="val 9091"/>
            </a:avLst>
          </a:prstGeom>
          <a:solidFill>
            <a:srgbClr val="1E60C8"/>
          </a:solidFill>
          <a:ln w="9525">
            <a:solidFill>
              <a:srgbClr val="FFFFFF">
                <a:alpha val="25000"/>
              </a:srgbClr>
            </a:solidFill>
            <a:prstDash val="solid"/>
          </a:ln>
        </p:spPr>
      </p:sp>
      <p:sp>
        <p:nvSpPr>
          <p:cNvPr id="12" name="Text 10"/>
          <p:cNvSpPr/>
          <p:nvPr/>
        </p:nvSpPr>
        <p:spPr>
          <a:xfrm>
            <a:off x="3903896" y="4489996"/>
            <a:ext cx="2658100" cy="400050"/>
          </a:xfrm>
          <a:prstGeom prst="rect">
            <a:avLst/>
          </a:prstGeom>
          <a:noFill/>
        </p:spPr>
        <p:txBody>
          <a:bodyPr wrap="square" lIns="25400" tIns="25400" rIns="25400" bIns="25400" rtlCol="0" anchor="t">
            <a:normAutofit/>
          </a:bodyPr>
          <a:lstStyle/>
          <a:p>
            <a:pPr marL="0" indent="0" algn="ctr">
              <a:lnSpc>
                <a:spcPct val="100000"/>
              </a:lnSpc>
              <a:buNone/>
            </a:pPr>
            <a:r>
              <a:rPr lang="en-US" sz="2850" b="1" dirty="0">
                <a:solidFill>
                  <a:srgbClr val="7EC8FF"/>
                </a:solidFill>
                <a:latin typeface="Arial" panose="020B0604020202020204" pitchFamily="34" charset="0"/>
                <a:ea typeface="Arial" panose="020B0604020202020204" pitchFamily="34" charset="-122"/>
                <a:cs typeface="Arial" panose="020B0604020202020204" pitchFamily="34" charset="-120"/>
              </a:rPr>
              <a:t>24h</a:t>
            </a:r>
            <a:endParaRPr lang="en-US" sz="2850" dirty="0"/>
          </a:p>
        </p:txBody>
      </p:sp>
      <p:sp>
        <p:nvSpPr>
          <p:cNvPr id="13" name="Text 11"/>
          <p:cNvSpPr/>
          <p:nvPr/>
        </p:nvSpPr>
        <p:spPr>
          <a:xfrm>
            <a:off x="3903896" y="4909096"/>
            <a:ext cx="2658100" cy="304800"/>
          </a:xfrm>
          <a:prstGeom prst="rect">
            <a:avLst/>
          </a:prstGeom>
          <a:noFill/>
        </p:spPr>
        <p:txBody>
          <a:bodyPr wrap="square" lIns="25400" tIns="25400" rIns="25400" bIns="25400" rtlCol="0" anchor="t">
            <a:normAutofit/>
          </a:bodyPr>
          <a:lstStyle/>
          <a:p>
            <a:pPr marL="0" indent="0" algn="ctr">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Sync Cycle</a:t>
            </a:r>
            <a:endParaRPr lang="en-US" sz="1800" dirty="0"/>
          </a:p>
        </p:txBody>
      </p:sp>
      <p:sp>
        <p:nvSpPr>
          <p:cNvPr id="14" name="Shape 12"/>
          <p:cNvSpPr/>
          <p:nvPr/>
        </p:nvSpPr>
        <p:spPr>
          <a:xfrm>
            <a:off x="6837611" y="4309021"/>
            <a:ext cx="2942630" cy="1047750"/>
          </a:xfrm>
          <a:prstGeom prst="roundRect">
            <a:avLst>
              <a:gd name="adj" fmla="val 9091"/>
            </a:avLst>
          </a:prstGeom>
          <a:solidFill>
            <a:srgbClr val="1E60C8"/>
          </a:solidFill>
          <a:ln w="9525">
            <a:solidFill>
              <a:srgbClr val="FFFFFF">
                <a:alpha val="25000"/>
              </a:srgbClr>
            </a:solidFill>
            <a:prstDash val="solid"/>
          </a:ln>
        </p:spPr>
      </p:sp>
      <p:sp>
        <p:nvSpPr>
          <p:cNvPr id="15" name="Text 13"/>
          <p:cNvSpPr/>
          <p:nvPr/>
        </p:nvSpPr>
        <p:spPr>
          <a:xfrm>
            <a:off x="6979875" y="4489996"/>
            <a:ext cx="2658100" cy="400050"/>
          </a:xfrm>
          <a:prstGeom prst="rect">
            <a:avLst/>
          </a:prstGeom>
          <a:noFill/>
        </p:spPr>
        <p:txBody>
          <a:bodyPr wrap="square" lIns="25400" tIns="25400" rIns="25400" bIns="25400" rtlCol="0" anchor="t">
            <a:normAutofit/>
          </a:bodyPr>
          <a:lstStyle/>
          <a:p>
            <a:pPr marL="0" indent="0" algn="ctr">
              <a:lnSpc>
                <a:spcPct val="100000"/>
              </a:lnSpc>
              <a:buNone/>
            </a:pPr>
            <a:r>
              <a:rPr lang="en-US" sz="2850" b="1" dirty="0">
                <a:solidFill>
                  <a:srgbClr val="7EC8FF"/>
                </a:solidFill>
                <a:latin typeface="Arial" panose="020B0604020202020204" pitchFamily="34" charset="0"/>
                <a:ea typeface="Arial" panose="020B0604020202020204" pitchFamily="34" charset="-122"/>
                <a:cs typeface="Arial" panose="020B0604020202020204" pitchFamily="34" charset="-120"/>
              </a:rPr>
              <a:t>2m</a:t>
            </a:r>
            <a:endParaRPr lang="en-US" sz="2850" dirty="0"/>
          </a:p>
        </p:txBody>
      </p:sp>
      <p:sp>
        <p:nvSpPr>
          <p:cNvPr id="16" name="Text 14"/>
          <p:cNvSpPr/>
          <p:nvPr/>
        </p:nvSpPr>
        <p:spPr>
          <a:xfrm>
            <a:off x="6979875" y="4909096"/>
            <a:ext cx="2658100" cy="304800"/>
          </a:xfrm>
          <a:prstGeom prst="rect">
            <a:avLst/>
          </a:prstGeom>
          <a:noFill/>
        </p:spPr>
        <p:txBody>
          <a:bodyPr wrap="square" lIns="25400" tIns="25400" rIns="25400" bIns="25400" rtlCol="0" anchor="t">
            <a:normAutofit/>
          </a:bodyPr>
          <a:lstStyle/>
          <a:p>
            <a:pPr marL="0" indent="0" algn="ctr">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Email Check</a:t>
            </a:r>
            <a:endParaRPr lang="en-US" sz="1800" dirty="0"/>
          </a:p>
        </p:txBody>
      </p:sp>
      <p:sp>
        <p:nvSpPr>
          <p:cNvPr id="17" name="Shape 15"/>
          <p:cNvSpPr/>
          <p:nvPr/>
        </p:nvSpPr>
        <p:spPr>
          <a:xfrm>
            <a:off x="10161240" y="1609725"/>
            <a:ext cx="7440960" cy="1017091"/>
          </a:xfrm>
          <a:prstGeom prst="roundRect">
            <a:avLst>
              <a:gd name="adj" fmla="val 9365"/>
            </a:avLst>
          </a:prstGeom>
          <a:solidFill>
            <a:srgbClr val="1A55B8"/>
          </a:solidFill>
          <a:ln w="9525">
            <a:solidFill>
              <a:srgbClr val="FFFFFF">
                <a:alpha val="25000"/>
              </a:srgbClr>
            </a:solidFill>
            <a:prstDash val="solid"/>
          </a:ln>
        </p:spPr>
      </p:sp>
      <p:sp>
        <p:nvSpPr>
          <p:cNvPr id="18" name="Shape 16"/>
          <p:cNvSpPr/>
          <p:nvPr/>
        </p:nvSpPr>
        <p:spPr>
          <a:xfrm>
            <a:off x="10342215" y="1828800"/>
            <a:ext cx="76200" cy="76200"/>
          </a:xfrm>
          <a:prstGeom prst="ellipse">
            <a:avLst/>
          </a:prstGeom>
          <a:solidFill>
            <a:srgbClr val="7EC8FF"/>
          </a:solidFill>
        </p:spPr>
      </p:sp>
      <p:sp>
        <p:nvSpPr>
          <p:cNvPr id="19" name="Text 17"/>
          <p:cNvSpPr/>
          <p:nvPr/>
        </p:nvSpPr>
        <p:spPr>
          <a:xfrm>
            <a:off x="10551765" y="1752600"/>
            <a:ext cx="7075544" cy="769441"/>
          </a:xfrm>
          <a:prstGeom prst="rect">
            <a:avLst/>
          </a:prstGeom>
          <a:noFill/>
        </p:spPr>
        <p:txBody>
          <a:bodyPr wrap="square" lIns="25400" tIns="25400" rIns="25400" bIns="25400" rtlCol="0" anchor="t">
            <a:normAutofit/>
          </a:bodyPr>
          <a:lstStyle/>
          <a:p>
            <a:pPr marL="0" indent="0" algn="l">
              <a:lnSpc>
                <a:spcPct val="160000"/>
              </a:lnSpc>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Role-Based Access Control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 four distinct roles, each with carefully scoped permissions across the platform</a:t>
            </a:r>
            <a:endParaRPr lang="en-US" sz="1800" dirty="0"/>
          </a:p>
        </p:txBody>
      </p:sp>
      <p:sp>
        <p:nvSpPr>
          <p:cNvPr id="20" name="Shape 18"/>
          <p:cNvSpPr/>
          <p:nvPr/>
        </p:nvSpPr>
        <p:spPr>
          <a:xfrm>
            <a:off x="10161240" y="2760166"/>
            <a:ext cx="7440960" cy="1017091"/>
          </a:xfrm>
          <a:prstGeom prst="roundRect">
            <a:avLst>
              <a:gd name="adj" fmla="val 9365"/>
            </a:avLst>
          </a:prstGeom>
          <a:solidFill>
            <a:srgbClr val="1A55B8"/>
          </a:solidFill>
          <a:ln w="9525">
            <a:solidFill>
              <a:srgbClr val="FFFFFF">
                <a:alpha val="25000"/>
              </a:srgbClr>
            </a:solidFill>
            <a:prstDash val="solid"/>
          </a:ln>
        </p:spPr>
      </p:sp>
      <p:sp>
        <p:nvSpPr>
          <p:cNvPr id="21" name="Shape 19"/>
          <p:cNvSpPr/>
          <p:nvPr/>
        </p:nvSpPr>
        <p:spPr>
          <a:xfrm>
            <a:off x="10342215" y="2979241"/>
            <a:ext cx="76200" cy="76200"/>
          </a:xfrm>
          <a:prstGeom prst="ellipse">
            <a:avLst/>
          </a:prstGeom>
          <a:solidFill>
            <a:srgbClr val="7EC8FF"/>
          </a:solidFill>
        </p:spPr>
      </p:sp>
      <p:sp>
        <p:nvSpPr>
          <p:cNvPr id="22" name="Text 20"/>
          <p:cNvSpPr/>
          <p:nvPr/>
        </p:nvSpPr>
        <p:spPr>
          <a:xfrm>
            <a:off x="10551765" y="2903041"/>
            <a:ext cx="7075544" cy="769441"/>
          </a:xfrm>
          <a:prstGeom prst="rect">
            <a:avLst/>
          </a:prstGeom>
          <a:noFill/>
        </p:spPr>
        <p:txBody>
          <a:bodyPr wrap="square" lIns="25400" tIns="25400" rIns="25400" bIns="25400" rtlCol="0" anchor="t">
            <a:normAutofit/>
          </a:bodyPr>
          <a:lstStyle/>
          <a:p>
            <a:pPr marL="0" indent="0" algn="l">
              <a:lnSpc>
                <a:spcPct val="160000"/>
              </a:lnSpc>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Automated eCFR Sync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 Azure Function fetches, compares, and updates regulatory records daily</a:t>
            </a:r>
            <a:endParaRPr lang="en-US" sz="1800" dirty="0"/>
          </a:p>
        </p:txBody>
      </p:sp>
      <p:sp>
        <p:nvSpPr>
          <p:cNvPr id="23" name="Shape 21"/>
          <p:cNvSpPr/>
          <p:nvPr/>
        </p:nvSpPr>
        <p:spPr>
          <a:xfrm>
            <a:off x="10161240" y="3910608"/>
            <a:ext cx="7440960" cy="1017091"/>
          </a:xfrm>
          <a:prstGeom prst="roundRect">
            <a:avLst>
              <a:gd name="adj" fmla="val 9365"/>
            </a:avLst>
          </a:prstGeom>
          <a:solidFill>
            <a:srgbClr val="1A55B8"/>
          </a:solidFill>
          <a:ln w="9525">
            <a:solidFill>
              <a:srgbClr val="FFFFFF">
                <a:alpha val="25000"/>
              </a:srgbClr>
            </a:solidFill>
            <a:prstDash val="solid"/>
          </a:ln>
        </p:spPr>
      </p:sp>
      <p:sp>
        <p:nvSpPr>
          <p:cNvPr id="24" name="Shape 22"/>
          <p:cNvSpPr/>
          <p:nvPr/>
        </p:nvSpPr>
        <p:spPr>
          <a:xfrm>
            <a:off x="10342215" y="4129683"/>
            <a:ext cx="76200" cy="76200"/>
          </a:xfrm>
          <a:prstGeom prst="ellipse">
            <a:avLst/>
          </a:prstGeom>
          <a:solidFill>
            <a:srgbClr val="7EC8FF"/>
          </a:solidFill>
        </p:spPr>
      </p:sp>
      <p:sp>
        <p:nvSpPr>
          <p:cNvPr id="25" name="Text 23"/>
          <p:cNvSpPr/>
          <p:nvPr/>
        </p:nvSpPr>
        <p:spPr>
          <a:xfrm>
            <a:off x="10551765" y="4053483"/>
            <a:ext cx="7075544" cy="769441"/>
          </a:xfrm>
          <a:prstGeom prst="rect">
            <a:avLst/>
          </a:prstGeom>
          <a:noFill/>
        </p:spPr>
        <p:txBody>
          <a:bodyPr wrap="square" lIns="25400" tIns="25400" rIns="25400" bIns="25400" rtlCol="0" anchor="t">
            <a:normAutofit/>
          </a:bodyPr>
          <a:lstStyle/>
          <a:p>
            <a:pPr marL="0" indent="0" algn="l">
              <a:lnSpc>
                <a:spcPct val="160000"/>
              </a:lnSpc>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Reliable Notification Engine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 outbox pattern ensures no email is lost, with full retry and audit trail</a:t>
            </a:r>
            <a:endParaRPr lang="en-US" sz="1800" dirty="0"/>
          </a:p>
        </p:txBody>
      </p:sp>
      <p:sp>
        <p:nvSpPr>
          <p:cNvPr id="26" name="Shape 24"/>
          <p:cNvSpPr/>
          <p:nvPr/>
        </p:nvSpPr>
        <p:spPr>
          <a:xfrm>
            <a:off x="10161240" y="5061049"/>
            <a:ext cx="7440960" cy="1017091"/>
          </a:xfrm>
          <a:prstGeom prst="roundRect">
            <a:avLst>
              <a:gd name="adj" fmla="val 9365"/>
            </a:avLst>
          </a:prstGeom>
          <a:solidFill>
            <a:srgbClr val="1A55B8"/>
          </a:solidFill>
          <a:ln w="9525">
            <a:solidFill>
              <a:srgbClr val="FFFFFF">
                <a:alpha val="25000"/>
              </a:srgbClr>
            </a:solidFill>
            <a:prstDash val="solid"/>
          </a:ln>
        </p:spPr>
      </p:sp>
      <p:sp>
        <p:nvSpPr>
          <p:cNvPr id="27" name="Shape 25"/>
          <p:cNvSpPr/>
          <p:nvPr/>
        </p:nvSpPr>
        <p:spPr>
          <a:xfrm>
            <a:off x="10342215" y="5280124"/>
            <a:ext cx="76200" cy="76200"/>
          </a:xfrm>
          <a:prstGeom prst="ellipse">
            <a:avLst/>
          </a:prstGeom>
          <a:solidFill>
            <a:srgbClr val="7EC8FF"/>
          </a:solidFill>
        </p:spPr>
      </p:sp>
      <p:sp>
        <p:nvSpPr>
          <p:cNvPr id="28" name="Text 26"/>
          <p:cNvSpPr/>
          <p:nvPr/>
        </p:nvSpPr>
        <p:spPr>
          <a:xfrm>
            <a:off x="10551765" y="5203924"/>
            <a:ext cx="7075544" cy="769441"/>
          </a:xfrm>
          <a:prstGeom prst="rect">
            <a:avLst/>
          </a:prstGeom>
          <a:noFill/>
        </p:spPr>
        <p:txBody>
          <a:bodyPr wrap="square" lIns="25400" tIns="25400" rIns="25400" bIns="25400" rtlCol="0" anchor="t">
            <a:normAutofit/>
          </a:bodyPr>
          <a:lstStyle/>
          <a:p>
            <a:pPr marL="0" indent="0" algn="l">
              <a:lnSpc>
                <a:spcPct val="160000"/>
              </a:lnSpc>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Multi-Tenant Architecture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 each company is an isolated tenant with its own data, users, and structure</a:t>
            </a:r>
            <a:endParaRPr lang="en-US" sz="1800" dirty="0"/>
          </a:p>
        </p:txBody>
      </p:sp>
      <p:sp>
        <p:nvSpPr>
          <p:cNvPr id="29" name="Shape 27"/>
          <p:cNvSpPr/>
          <p:nvPr/>
        </p:nvSpPr>
        <p:spPr>
          <a:xfrm>
            <a:off x="10161240" y="6211491"/>
            <a:ext cx="7440960" cy="1017091"/>
          </a:xfrm>
          <a:prstGeom prst="roundRect">
            <a:avLst>
              <a:gd name="adj" fmla="val 9365"/>
            </a:avLst>
          </a:prstGeom>
          <a:solidFill>
            <a:srgbClr val="1A55B8"/>
          </a:solidFill>
          <a:ln w="9525">
            <a:solidFill>
              <a:srgbClr val="FFFFFF">
                <a:alpha val="25000"/>
              </a:srgbClr>
            </a:solidFill>
            <a:prstDash val="solid"/>
          </a:ln>
        </p:spPr>
      </p:sp>
      <p:sp>
        <p:nvSpPr>
          <p:cNvPr id="30" name="Shape 28"/>
          <p:cNvSpPr/>
          <p:nvPr/>
        </p:nvSpPr>
        <p:spPr>
          <a:xfrm>
            <a:off x="10342215" y="6430566"/>
            <a:ext cx="76200" cy="76200"/>
          </a:xfrm>
          <a:prstGeom prst="ellipse">
            <a:avLst/>
          </a:prstGeom>
          <a:solidFill>
            <a:srgbClr val="7EC8FF"/>
          </a:solidFill>
        </p:spPr>
      </p:sp>
      <p:sp>
        <p:nvSpPr>
          <p:cNvPr id="31" name="Text 29"/>
          <p:cNvSpPr/>
          <p:nvPr/>
        </p:nvSpPr>
        <p:spPr>
          <a:xfrm>
            <a:off x="10551765" y="6354366"/>
            <a:ext cx="7075544" cy="769441"/>
          </a:xfrm>
          <a:prstGeom prst="rect">
            <a:avLst/>
          </a:prstGeom>
          <a:noFill/>
        </p:spPr>
        <p:txBody>
          <a:bodyPr wrap="square" lIns="25400" tIns="25400" rIns="25400" bIns="25400" rtlCol="0" anchor="t">
            <a:normAutofit/>
          </a:bodyPr>
          <a:lstStyle/>
          <a:p>
            <a:pPr marL="0" indent="0" algn="l">
              <a:lnSpc>
                <a:spcPct val="160000"/>
              </a:lnSpc>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Tailored Dashboards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 every role sees a dashboard relevant to their scope and responsibilities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SYSTEM ARCHITECTURE</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ARM – High-Level Azure Architecture</a:t>
            </a:r>
            <a:endParaRPr lang="en-US" sz="3000" dirty="0"/>
          </a:p>
        </p:txBody>
      </p:sp>
      <p:sp>
        <p:nvSpPr>
          <p:cNvPr id="6" name="Shape 4"/>
          <p:cNvSpPr/>
          <p:nvPr/>
        </p:nvSpPr>
        <p:spPr>
          <a:xfrm>
            <a:off x="381000" y="1419225"/>
            <a:ext cx="17526000" cy="8677275"/>
          </a:xfrm>
          <a:prstGeom prst="roundRect">
            <a:avLst>
              <a:gd name="adj" fmla="val 1098"/>
            </a:avLst>
          </a:prstGeom>
          <a:ln w="9525">
            <a:solidFill>
              <a:srgbClr val="FFFFFF">
                <a:alpha val="20000"/>
              </a:srgbClr>
            </a:solidFill>
            <a:prstDash val="solid"/>
          </a:ln>
        </p:spPr>
      </p:sp>
      <p:pic>
        <p:nvPicPr>
          <p:cNvPr id="7" name="Image 0" descr="preencoded.png"/>
          <p:cNvPicPr>
            <a:picLocks noChangeAspect="1"/>
          </p:cNvPicPr>
          <p:nvPr/>
        </p:nvPicPr>
        <p:blipFill>
          <a:blip r:embed="rId1"/>
          <a:srcRect t="3337"/>
          <a:stretch>
            <a:fillRect/>
          </a:stretch>
        </p:blipFill>
        <p:spPr>
          <a:xfrm>
            <a:off x="381000" y="1708785"/>
            <a:ext cx="17526000" cy="83877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ACCESS MODEL</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Four Roles, Defined Scope</a:t>
            </a:r>
            <a:endParaRPr lang="en-US" sz="3000" dirty="0"/>
          </a:p>
        </p:txBody>
      </p:sp>
      <p:sp>
        <p:nvSpPr>
          <p:cNvPr id="6" name="Shape 4"/>
          <p:cNvSpPr/>
          <p:nvPr/>
        </p:nvSpPr>
        <p:spPr>
          <a:xfrm>
            <a:off x="685800" y="1571625"/>
            <a:ext cx="8362950" cy="4090987"/>
          </a:xfrm>
          <a:prstGeom prst="roundRect">
            <a:avLst>
              <a:gd name="adj" fmla="val 3260"/>
            </a:avLst>
          </a:prstGeom>
          <a:solidFill>
            <a:srgbClr val="1A55B8"/>
          </a:solidFill>
          <a:ln w="19050">
            <a:solidFill>
              <a:srgbClr val="FFFFFF">
                <a:alpha val="22000"/>
              </a:srgbClr>
            </a:solidFill>
            <a:prstDash val="solid"/>
          </a:ln>
        </p:spPr>
      </p:sp>
      <p:sp>
        <p:nvSpPr>
          <p:cNvPr id="7" name="Text 5"/>
          <p:cNvSpPr/>
          <p:nvPr/>
        </p:nvSpPr>
        <p:spPr>
          <a:xfrm>
            <a:off x="933450" y="1819275"/>
            <a:ext cx="8103679" cy="390525"/>
          </a:xfrm>
          <a:prstGeom prst="rect">
            <a:avLst/>
          </a:prstGeom>
          <a:noFill/>
        </p:spPr>
        <p:txBody>
          <a:bodyPr wrap="square" lIns="25400" tIns="25400" rIns="25400" bIns="25400" rtlCol="0" anchor="t">
            <a:normAutofit/>
          </a:bodyPr>
          <a:lstStyle/>
          <a:p>
            <a:pPr marL="0" indent="0" algn="l">
              <a:buNone/>
            </a:pPr>
            <a:r>
              <a:rPr lang="en-US" sz="21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8" name="Text 6"/>
          <p:cNvSpPr/>
          <p:nvPr/>
        </p:nvSpPr>
        <p:spPr>
          <a:xfrm>
            <a:off x="933450" y="2266950"/>
            <a:ext cx="810367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Super Admin</a:t>
            </a:r>
            <a:endParaRPr lang="en-US" sz="1800" dirty="0"/>
          </a:p>
        </p:txBody>
      </p:sp>
      <p:sp>
        <p:nvSpPr>
          <p:cNvPr id="9" name="Text 7"/>
          <p:cNvSpPr/>
          <p:nvPr/>
        </p:nvSpPr>
        <p:spPr>
          <a:xfrm>
            <a:off x="933450" y="2600325"/>
            <a:ext cx="8103679" cy="31432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FFFFFF"/>
                </a:solidFill>
                <a:latin typeface="Arial" panose="020B0604020202020204" pitchFamily="34" charset="0"/>
                <a:ea typeface="Arial" panose="020B0604020202020204" pitchFamily="34" charset="-122"/>
                <a:cs typeface="Arial" panose="020B0604020202020204" pitchFamily="34" charset="-120"/>
              </a:rPr>
              <a:t>PLATFORM-WIDE</a:t>
            </a:r>
            <a:endParaRPr lang="en-US" sz="1800" dirty="0"/>
          </a:p>
        </p:txBody>
      </p:sp>
      <p:sp>
        <p:nvSpPr>
          <p:cNvPr id="10" name="Text 8"/>
          <p:cNvSpPr/>
          <p:nvPr/>
        </p:nvSpPr>
        <p:spPr>
          <a:xfrm>
            <a:off x="933450" y="2971800"/>
            <a:ext cx="8103679" cy="1976437"/>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Manages the entire platform across all companies. Full visibility into all data, users, system configurations, and background processes. Not tied to any single company.</a:t>
            </a:r>
            <a:endParaRPr lang="en-US" sz="1800" dirty="0"/>
          </a:p>
        </p:txBody>
      </p:sp>
      <p:sp>
        <p:nvSpPr>
          <p:cNvPr id="11" name="Shape 9"/>
          <p:cNvSpPr/>
          <p:nvPr/>
        </p:nvSpPr>
        <p:spPr>
          <a:xfrm>
            <a:off x="933450" y="5024438"/>
            <a:ext cx="1782068"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12" name="Text 10"/>
          <p:cNvSpPr/>
          <p:nvPr/>
        </p:nvSpPr>
        <p:spPr>
          <a:xfrm>
            <a:off x="1057275" y="5072063"/>
            <a:ext cx="1610618"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All Companies</a:t>
            </a:r>
            <a:endParaRPr lang="en-US" sz="1800" dirty="0"/>
          </a:p>
        </p:txBody>
      </p:sp>
      <p:sp>
        <p:nvSpPr>
          <p:cNvPr id="13" name="Shape 11"/>
          <p:cNvSpPr/>
          <p:nvPr/>
        </p:nvSpPr>
        <p:spPr>
          <a:xfrm>
            <a:off x="2772668" y="5024438"/>
            <a:ext cx="1857077"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14" name="Text 12"/>
          <p:cNvSpPr/>
          <p:nvPr/>
        </p:nvSpPr>
        <p:spPr>
          <a:xfrm>
            <a:off x="2896493" y="5072063"/>
            <a:ext cx="1685627"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System Config</a:t>
            </a:r>
            <a:endParaRPr lang="en-US" sz="1800" dirty="0"/>
          </a:p>
        </p:txBody>
      </p:sp>
      <p:sp>
        <p:nvSpPr>
          <p:cNvPr id="15" name="Shape 13"/>
          <p:cNvSpPr/>
          <p:nvPr/>
        </p:nvSpPr>
        <p:spPr>
          <a:xfrm>
            <a:off x="4686895" y="5024438"/>
            <a:ext cx="1605558"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16" name="Text 14"/>
          <p:cNvSpPr/>
          <p:nvPr/>
        </p:nvSpPr>
        <p:spPr>
          <a:xfrm>
            <a:off x="4810720" y="5072063"/>
            <a:ext cx="1434108"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Global Users</a:t>
            </a:r>
            <a:endParaRPr lang="en-US" sz="1800" dirty="0"/>
          </a:p>
        </p:txBody>
      </p:sp>
      <p:sp>
        <p:nvSpPr>
          <p:cNvPr id="17" name="Shape 15"/>
          <p:cNvSpPr/>
          <p:nvPr/>
        </p:nvSpPr>
        <p:spPr>
          <a:xfrm>
            <a:off x="6349603" y="5024438"/>
            <a:ext cx="1363712"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18" name="Text 16"/>
          <p:cNvSpPr/>
          <p:nvPr/>
        </p:nvSpPr>
        <p:spPr>
          <a:xfrm>
            <a:off x="6473428" y="5072063"/>
            <a:ext cx="1192262"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Scheduler</a:t>
            </a:r>
            <a:endParaRPr lang="en-US" sz="1800" dirty="0"/>
          </a:p>
        </p:txBody>
      </p:sp>
      <p:sp>
        <p:nvSpPr>
          <p:cNvPr id="19" name="Shape 17"/>
          <p:cNvSpPr/>
          <p:nvPr/>
        </p:nvSpPr>
        <p:spPr>
          <a:xfrm>
            <a:off x="9239250" y="1571625"/>
            <a:ext cx="8362950" cy="4090987"/>
          </a:xfrm>
          <a:prstGeom prst="roundRect">
            <a:avLst>
              <a:gd name="adj" fmla="val 3260"/>
            </a:avLst>
          </a:prstGeom>
          <a:solidFill>
            <a:srgbClr val="1A55B8"/>
          </a:solidFill>
          <a:ln w="19050">
            <a:solidFill>
              <a:srgbClr val="FFFFFF">
                <a:alpha val="22000"/>
              </a:srgbClr>
            </a:solidFill>
            <a:prstDash val="solid"/>
          </a:ln>
        </p:spPr>
      </p:sp>
      <p:sp>
        <p:nvSpPr>
          <p:cNvPr id="20" name="Text 18"/>
          <p:cNvSpPr/>
          <p:nvPr/>
        </p:nvSpPr>
        <p:spPr>
          <a:xfrm>
            <a:off x="9486900" y="1819275"/>
            <a:ext cx="8103679" cy="390525"/>
          </a:xfrm>
          <a:prstGeom prst="rect">
            <a:avLst/>
          </a:prstGeom>
          <a:noFill/>
        </p:spPr>
        <p:txBody>
          <a:bodyPr wrap="square" lIns="25400" tIns="25400" rIns="25400" bIns="25400" rtlCol="0" anchor="t">
            <a:normAutofit/>
          </a:bodyPr>
          <a:lstStyle/>
          <a:p>
            <a:pPr marL="0" indent="0" algn="l">
              <a:buNone/>
            </a:pPr>
            <a:r>
              <a:rPr lang="en-US" sz="21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21" name="Text 19"/>
          <p:cNvSpPr/>
          <p:nvPr/>
        </p:nvSpPr>
        <p:spPr>
          <a:xfrm>
            <a:off x="9486900" y="2266950"/>
            <a:ext cx="810367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Admin</a:t>
            </a:r>
            <a:endParaRPr lang="en-US" sz="1800" dirty="0"/>
          </a:p>
        </p:txBody>
      </p:sp>
      <p:sp>
        <p:nvSpPr>
          <p:cNvPr id="22" name="Text 20"/>
          <p:cNvSpPr/>
          <p:nvPr/>
        </p:nvSpPr>
        <p:spPr>
          <a:xfrm>
            <a:off x="9486900" y="2600325"/>
            <a:ext cx="8103679" cy="31432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FFFFFF"/>
                </a:solidFill>
                <a:latin typeface="Arial" panose="020B0604020202020204" pitchFamily="34" charset="0"/>
                <a:ea typeface="Arial" panose="020B0604020202020204" pitchFamily="34" charset="-122"/>
                <a:cs typeface="Arial" panose="020B0604020202020204" pitchFamily="34" charset="-120"/>
              </a:rPr>
              <a:t>COMPANY-LEVEL</a:t>
            </a:r>
            <a:endParaRPr lang="en-US" sz="1800" dirty="0"/>
          </a:p>
        </p:txBody>
      </p:sp>
      <p:sp>
        <p:nvSpPr>
          <p:cNvPr id="23" name="Text 21"/>
          <p:cNvSpPr/>
          <p:nvPr/>
        </p:nvSpPr>
        <p:spPr>
          <a:xfrm>
            <a:off x="9486900" y="2971800"/>
            <a:ext cx="8103679" cy="1976437"/>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Represents a company owner or administrator. Manages everything within their own company — employees, customers, subscriptions, departments, divisions, and regulations.</a:t>
            </a:r>
            <a:endParaRPr lang="en-US" sz="1800" dirty="0"/>
          </a:p>
        </p:txBody>
      </p:sp>
      <p:sp>
        <p:nvSpPr>
          <p:cNvPr id="24" name="Shape 22"/>
          <p:cNvSpPr/>
          <p:nvPr/>
        </p:nvSpPr>
        <p:spPr>
          <a:xfrm>
            <a:off x="9486900" y="5024438"/>
            <a:ext cx="1429196"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25" name="Text 23"/>
          <p:cNvSpPr/>
          <p:nvPr/>
        </p:nvSpPr>
        <p:spPr>
          <a:xfrm>
            <a:off x="9610725" y="5072063"/>
            <a:ext cx="1257746"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Customers</a:t>
            </a:r>
            <a:endParaRPr lang="en-US" sz="1800" dirty="0"/>
          </a:p>
        </p:txBody>
      </p:sp>
      <p:sp>
        <p:nvSpPr>
          <p:cNvPr id="26" name="Shape 24"/>
          <p:cNvSpPr/>
          <p:nvPr/>
        </p:nvSpPr>
        <p:spPr>
          <a:xfrm>
            <a:off x="10973246" y="5024438"/>
            <a:ext cx="1444377"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27" name="Text 25"/>
          <p:cNvSpPr/>
          <p:nvPr/>
        </p:nvSpPr>
        <p:spPr>
          <a:xfrm>
            <a:off x="11097071" y="5072063"/>
            <a:ext cx="1272927"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Employees</a:t>
            </a:r>
            <a:endParaRPr lang="en-US" sz="1800" dirty="0"/>
          </a:p>
        </p:txBody>
      </p:sp>
      <p:sp>
        <p:nvSpPr>
          <p:cNvPr id="28" name="Shape 26"/>
          <p:cNvSpPr/>
          <p:nvPr/>
        </p:nvSpPr>
        <p:spPr>
          <a:xfrm>
            <a:off x="12474773" y="5024438"/>
            <a:ext cx="1783110"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29" name="Text 27"/>
          <p:cNvSpPr/>
          <p:nvPr/>
        </p:nvSpPr>
        <p:spPr>
          <a:xfrm>
            <a:off x="12598598" y="5072063"/>
            <a:ext cx="1611660"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Subscriptions</a:t>
            </a:r>
            <a:endParaRPr lang="en-US" sz="1800" dirty="0"/>
          </a:p>
        </p:txBody>
      </p:sp>
      <p:sp>
        <p:nvSpPr>
          <p:cNvPr id="30" name="Shape 28"/>
          <p:cNvSpPr/>
          <p:nvPr/>
        </p:nvSpPr>
        <p:spPr>
          <a:xfrm>
            <a:off x="14315033" y="5024438"/>
            <a:ext cx="1757363"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31" name="Text 29"/>
          <p:cNvSpPr/>
          <p:nvPr/>
        </p:nvSpPr>
        <p:spPr>
          <a:xfrm>
            <a:off x="14438858" y="5072063"/>
            <a:ext cx="1585913"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Org Structure</a:t>
            </a:r>
            <a:endParaRPr lang="en-US" sz="1800" dirty="0"/>
          </a:p>
        </p:txBody>
      </p:sp>
      <p:sp>
        <p:nvSpPr>
          <p:cNvPr id="32" name="Shape 30"/>
          <p:cNvSpPr/>
          <p:nvPr/>
        </p:nvSpPr>
        <p:spPr>
          <a:xfrm>
            <a:off x="685800" y="5853113"/>
            <a:ext cx="8362950" cy="4090987"/>
          </a:xfrm>
          <a:prstGeom prst="roundRect">
            <a:avLst>
              <a:gd name="adj" fmla="val 3260"/>
            </a:avLst>
          </a:prstGeom>
          <a:solidFill>
            <a:srgbClr val="1A55B8"/>
          </a:solidFill>
          <a:ln w="19050">
            <a:solidFill>
              <a:srgbClr val="FFFFFF">
                <a:alpha val="22000"/>
              </a:srgbClr>
            </a:solidFill>
            <a:prstDash val="solid"/>
          </a:ln>
        </p:spPr>
      </p:sp>
      <p:sp>
        <p:nvSpPr>
          <p:cNvPr id="33" name="Text 31"/>
          <p:cNvSpPr/>
          <p:nvPr/>
        </p:nvSpPr>
        <p:spPr>
          <a:xfrm>
            <a:off x="933450" y="6100763"/>
            <a:ext cx="8103679" cy="390525"/>
          </a:xfrm>
          <a:prstGeom prst="rect">
            <a:avLst/>
          </a:prstGeom>
          <a:noFill/>
        </p:spPr>
        <p:txBody>
          <a:bodyPr wrap="square" lIns="25400" tIns="25400" rIns="25400" bIns="25400" rtlCol="0" anchor="t">
            <a:normAutofit/>
          </a:bodyPr>
          <a:lstStyle/>
          <a:p>
            <a:pPr marL="0" indent="0" algn="l">
              <a:buNone/>
            </a:pPr>
            <a:r>
              <a:rPr lang="en-US" sz="21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34" name="Text 32"/>
          <p:cNvSpPr/>
          <p:nvPr/>
        </p:nvSpPr>
        <p:spPr>
          <a:xfrm>
            <a:off x="933450" y="6548438"/>
            <a:ext cx="810367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Customer</a:t>
            </a:r>
            <a:endParaRPr lang="en-US" sz="1800" dirty="0"/>
          </a:p>
        </p:txBody>
      </p:sp>
      <p:sp>
        <p:nvSpPr>
          <p:cNvPr id="35" name="Text 33"/>
          <p:cNvSpPr/>
          <p:nvPr/>
        </p:nvSpPr>
        <p:spPr>
          <a:xfrm>
            <a:off x="933450" y="6881813"/>
            <a:ext cx="8103679" cy="31432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FFFFFF"/>
                </a:solidFill>
                <a:latin typeface="Arial" panose="020B0604020202020204" pitchFamily="34" charset="0"/>
                <a:ea typeface="Arial" panose="020B0604020202020204" pitchFamily="34" charset="-122"/>
                <a:cs typeface="Arial" panose="020B0604020202020204" pitchFamily="34" charset="-120"/>
              </a:rPr>
              <a:t>EXTERNAL USER</a:t>
            </a:r>
            <a:endParaRPr lang="en-US" sz="1800" dirty="0"/>
          </a:p>
        </p:txBody>
      </p:sp>
      <p:sp>
        <p:nvSpPr>
          <p:cNvPr id="36" name="Text 34"/>
          <p:cNvSpPr/>
          <p:nvPr/>
        </p:nvSpPr>
        <p:spPr>
          <a:xfrm>
            <a:off x="933450" y="7253288"/>
            <a:ext cx="8103679" cy="1976437"/>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An external user associated with a company. Interacts with subscribed regulatory content, receives change notices, and can raise grievances through the platform.</a:t>
            </a:r>
            <a:endParaRPr lang="en-US" sz="1800" dirty="0"/>
          </a:p>
        </p:txBody>
      </p:sp>
      <p:sp>
        <p:nvSpPr>
          <p:cNvPr id="37" name="Shape 35"/>
          <p:cNvSpPr/>
          <p:nvPr/>
        </p:nvSpPr>
        <p:spPr>
          <a:xfrm>
            <a:off x="933450" y="9305925"/>
            <a:ext cx="1783110"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38" name="Text 36"/>
          <p:cNvSpPr/>
          <p:nvPr/>
        </p:nvSpPr>
        <p:spPr>
          <a:xfrm>
            <a:off x="1057275" y="9353550"/>
            <a:ext cx="1611660"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Subscriptions</a:t>
            </a:r>
            <a:endParaRPr lang="en-US" sz="1800" dirty="0"/>
          </a:p>
        </p:txBody>
      </p:sp>
      <p:sp>
        <p:nvSpPr>
          <p:cNvPr id="39" name="Shape 37"/>
          <p:cNvSpPr/>
          <p:nvPr/>
        </p:nvSpPr>
        <p:spPr>
          <a:xfrm>
            <a:off x="2773710" y="9305925"/>
            <a:ext cx="1987004"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40" name="Text 38"/>
          <p:cNvSpPr/>
          <p:nvPr/>
        </p:nvSpPr>
        <p:spPr>
          <a:xfrm>
            <a:off x="2897535" y="9353550"/>
            <a:ext cx="1815554"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Change Notices</a:t>
            </a:r>
            <a:endParaRPr lang="en-US" sz="1800" dirty="0"/>
          </a:p>
        </p:txBody>
      </p:sp>
      <p:sp>
        <p:nvSpPr>
          <p:cNvPr id="41" name="Shape 39"/>
          <p:cNvSpPr/>
          <p:nvPr/>
        </p:nvSpPr>
        <p:spPr>
          <a:xfrm>
            <a:off x="4817864" y="9305925"/>
            <a:ext cx="1457920"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42" name="Text 40"/>
          <p:cNvSpPr/>
          <p:nvPr/>
        </p:nvSpPr>
        <p:spPr>
          <a:xfrm>
            <a:off x="4941689" y="9353550"/>
            <a:ext cx="1286470"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43" name="Shape 41"/>
          <p:cNvSpPr/>
          <p:nvPr/>
        </p:nvSpPr>
        <p:spPr>
          <a:xfrm>
            <a:off x="9239250" y="5853113"/>
            <a:ext cx="8362950" cy="4090987"/>
          </a:xfrm>
          <a:prstGeom prst="roundRect">
            <a:avLst>
              <a:gd name="adj" fmla="val 3260"/>
            </a:avLst>
          </a:prstGeom>
          <a:solidFill>
            <a:srgbClr val="1A55B8"/>
          </a:solidFill>
          <a:ln w="19050">
            <a:solidFill>
              <a:srgbClr val="FFFFFF">
                <a:alpha val="22000"/>
              </a:srgbClr>
            </a:solidFill>
            <a:prstDash val="solid"/>
          </a:ln>
        </p:spPr>
      </p:sp>
      <p:sp>
        <p:nvSpPr>
          <p:cNvPr id="44" name="Text 42"/>
          <p:cNvSpPr/>
          <p:nvPr/>
        </p:nvSpPr>
        <p:spPr>
          <a:xfrm>
            <a:off x="9486900" y="6100763"/>
            <a:ext cx="8103679" cy="390525"/>
          </a:xfrm>
          <a:prstGeom prst="rect">
            <a:avLst/>
          </a:prstGeom>
          <a:noFill/>
        </p:spPr>
        <p:txBody>
          <a:bodyPr wrap="square" lIns="25400" tIns="25400" rIns="25400" bIns="25400" rtlCol="0" anchor="t">
            <a:normAutofit/>
          </a:bodyPr>
          <a:lstStyle/>
          <a:p>
            <a:pPr marL="0" indent="0" algn="l">
              <a:buNone/>
            </a:pPr>
            <a:r>
              <a:rPr lang="en-US" sz="21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45" name="Text 43"/>
          <p:cNvSpPr/>
          <p:nvPr/>
        </p:nvSpPr>
        <p:spPr>
          <a:xfrm>
            <a:off x="9486900" y="6548438"/>
            <a:ext cx="810367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Employee</a:t>
            </a:r>
            <a:endParaRPr lang="en-US" sz="1800" dirty="0"/>
          </a:p>
        </p:txBody>
      </p:sp>
      <p:sp>
        <p:nvSpPr>
          <p:cNvPr id="46" name="Text 44"/>
          <p:cNvSpPr/>
          <p:nvPr/>
        </p:nvSpPr>
        <p:spPr>
          <a:xfrm>
            <a:off x="9486900" y="6881813"/>
            <a:ext cx="8103679" cy="31432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FFFFFF"/>
                </a:solidFill>
                <a:latin typeface="Arial" panose="020B0604020202020204" pitchFamily="34" charset="0"/>
                <a:ea typeface="Arial" panose="020B0604020202020204" pitchFamily="34" charset="-122"/>
                <a:cs typeface="Arial" panose="020B0604020202020204" pitchFamily="34" charset="-120"/>
              </a:rPr>
              <a:t>INTERNAL USER</a:t>
            </a:r>
            <a:endParaRPr lang="en-US" sz="1800" dirty="0"/>
          </a:p>
        </p:txBody>
      </p:sp>
      <p:sp>
        <p:nvSpPr>
          <p:cNvPr id="47" name="Text 45"/>
          <p:cNvSpPr/>
          <p:nvPr/>
        </p:nvSpPr>
        <p:spPr>
          <a:xfrm>
            <a:off x="9486900" y="7253288"/>
            <a:ext cx="8103679" cy="1976437"/>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An internal user within a company. Works on assigned regulatory tasks, views regulatory updates relevant to their assignments, and interacts with company workflows.</a:t>
            </a:r>
            <a:endParaRPr lang="en-US" sz="1800" dirty="0"/>
          </a:p>
        </p:txBody>
      </p:sp>
      <p:sp>
        <p:nvSpPr>
          <p:cNvPr id="48" name="Shape 46"/>
          <p:cNvSpPr/>
          <p:nvPr/>
        </p:nvSpPr>
        <p:spPr>
          <a:xfrm>
            <a:off x="9486900" y="9305925"/>
            <a:ext cx="1669107"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49" name="Text 47"/>
          <p:cNvSpPr/>
          <p:nvPr/>
        </p:nvSpPr>
        <p:spPr>
          <a:xfrm>
            <a:off x="9610725" y="9353550"/>
            <a:ext cx="1497657"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Assignments</a:t>
            </a:r>
            <a:endParaRPr lang="en-US" sz="1800" dirty="0"/>
          </a:p>
        </p:txBody>
      </p:sp>
      <p:sp>
        <p:nvSpPr>
          <p:cNvPr id="50" name="Shape 48"/>
          <p:cNvSpPr/>
          <p:nvPr/>
        </p:nvSpPr>
        <p:spPr>
          <a:xfrm>
            <a:off x="11213157" y="9305925"/>
            <a:ext cx="1559421"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51" name="Text 49"/>
          <p:cNvSpPr/>
          <p:nvPr/>
        </p:nvSpPr>
        <p:spPr>
          <a:xfrm>
            <a:off x="11336982" y="9353550"/>
            <a:ext cx="1387971"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Regulations</a:t>
            </a:r>
            <a:endParaRPr lang="en-US" sz="1800" dirty="0"/>
          </a:p>
        </p:txBody>
      </p:sp>
      <p:sp>
        <p:nvSpPr>
          <p:cNvPr id="52" name="Shape 50"/>
          <p:cNvSpPr/>
          <p:nvPr/>
        </p:nvSpPr>
        <p:spPr>
          <a:xfrm>
            <a:off x="12829729" y="9305925"/>
            <a:ext cx="1987004" cy="390525"/>
          </a:xfrm>
          <a:prstGeom prst="roundRect">
            <a:avLst>
              <a:gd name="adj" fmla="val 50000"/>
            </a:avLst>
          </a:prstGeom>
          <a:solidFill>
            <a:srgbClr val="FFFFFF">
              <a:alpha val="18000"/>
            </a:srgbClr>
          </a:solidFill>
          <a:ln w="9525">
            <a:solidFill>
              <a:srgbClr val="FFFFFF">
                <a:alpha val="30000"/>
              </a:srgbClr>
            </a:solidFill>
            <a:prstDash val="solid"/>
          </a:ln>
        </p:spPr>
      </p:sp>
      <p:sp>
        <p:nvSpPr>
          <p:cNvPr id="53" name="Text 51"/>
          <p:cNvSpPr/>
          <p:nvPr/>
        </p:nvSpPr>
        <p:spPr>
          <a:xfrm>
            <a:off x="12953554" y="9353550"/>
            <a:ext cx="1815554" cy="333375"/>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Change Notices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PERMISSIONS</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Role × Feature Access</a:t>
            </a:r>
            <a:endParaRPr lang="en-US" sz="3000" dirty="0"/>
          </a:p>
        </p:txBody>
      </p:sp>
      <p:sp>
        <p:nvSpPr>
          <p:cNvPr id="6" name="Shape 4"/>
          <p:cNvSpPr/>
          <p:nvPr/>
        </p:nvSpPr>
        <p:spPr>
          <a:xfrm>
            <a:off x="685800" y="2162175"/>
            <a:ext cx="4359027" cy="19050"/>
          </a:xfrm>
          <a:prstGeom prst="rect">
            <a:avLst/>
          </a:prstGeom>
          <a:solidFill>
            <a:srgbClr val="FFFFFF">
              <a:alpha val="30000"/>
            </a:srgbClr>
          </a:solidFill>
        </p:spPr>
      </p:sp>
      <p:sp>
        <p:nvSpPr>
          <p:cNvPr id="7" name="Text 5"/>
          <p:cNvSpPr/>
          <p:nvPr/>
        </p:nvSpPr>
        <p:spPr>
          <a:xfrm>
            <a:off x="857250" y="1743075"/>
            <a:ext cx="4146898" cy="323850"/>
          </a:xfrm>
          <a:prstGeom prst="rect">
            <a:avLst/>
          </a:prstGeom>
          <a:noFill/>
        </p:spPr>
        <p:txBody>
          <a:bodyPr wrap="square" lIns="25400" tIns="25400" rIns="25400" bIns="25400" rtlCol="0" anchor="ctr">
            <a:normAutofit/>
          </a:bodyPr>
          <a:lstStyle/>
          <a:p>
            <a:pPr marL="0" indent="0" algn="l">
              <a:buNone/>
            </a:pPr>
            <a:r>
              <a:rPr lang="en-US" sz="1800" b="1" dirty="0">
                <a:solidFill>
                  <a:srgbClr val="A8DAFF"/>
                </a:solidFill>
                <a:latin typeface="Arial" panose="020B0604020202020204" pitchFamily="34" charset="0"/>
                <a:ea typeface="Arial" panose="020B0604020202020204" pitchFamily="34" charset="-122"/>
                <a:cs typeface="Arial" panose="020B0604020202020204" pitchFamily="34" charset="-120"/>
              </a:rPr>
              <a:t>Feature</a:t>
            </a:r>
            <a:endParaRPr lang="en-US" sz="1800" dirty="0"/>
          </a:p>
        </p:txBody>
      </p:sp>
      <p:sp>
        <p:nvSpPr>
          <p:cNvPr id="8" name="Shape 6"/>
          <p:cNvSpPr/>
          <p:nvPr/>
        </p:nvSpPr>
        <p:spPr>
          <a:xfrm>
            <a:off x="5044827" y="2162175"/>
            <a:ext cx="3408313" cy="19050"/>
          </a:xfrm>
          <a:prstGeom prst="rect">
            <a:avLst/>
          </a:prstGeom>
          <a:solidFill>
            <a:srgbClr val="FFFFFF">
              <a:alpha val="30000"/>
            </a:srgbClr>
          </a:solidFill>
        </p:spPr>
      </p:sp>
      <p:sp>
        <p:nvSpPr>
          <p:cNvPr id="9" name="Text 7"/>
          <p:cNvSpPr/>
          <p:nvPr/>
        </p:nvSpPr>
        <p:spPr>
          <a:xfrm>
            <a:off x="5216277" y="1743075"/>
            <a:ext cx="3167662" cy="323850"/>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Super Admin</a:t>
            </a:r>
            <a:endParaRPr lang="en-US" sz="1800" dirty="0"/>
          </a:p>
        </p:txBody>
      </p:sp>
      <p:sp>
        <p:nvSpPr>
          <p:cNvPr id="10" name="Shape 8"/>
          <p:cNvSpPr/>
          <p:nvPr/>
        </p:nvSpPr>
        <p:spPr>
          <a:xfrm>
            <a:off x="8453140" y="2162175"/>
            <a:ext cx="2605980" cy="19050"/>
          </a:xfrm>
          <a:prstGeom prst="rect">
            <a:avLst/>
          </a:prstGeom>
          <a:solidFill>
            <a:srgbClr val="FFFFFF">
              <a:alpha val="30000"/>
            </a:srgbClr>
          </a:solidFill>
        </p:spPr>
      </p:sp>
      <p:sp>
        <p:nvSpPr>
          <p:cNvPr id="11" name="Text 9"/>
          <p:cNvSpPr/>
          <p:nvPr/>
        </p:nvSpPr>
        <p:spPr>
          <a:xfrm>
            <a:off x="8624590" y="1743075"/>
            <a:ext cx="2341260" cy="323850"/>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Admin</a:t>
            </a:r>
            <a:endParaRPr lang="en-US" sz="1800" dirty="0"/>
          </a:p>
        </p:txBody>
      </p:sp>
      <p:sp>
        <p:nvSpPr>
          <p:cNvPr id="12" name="Shape 10"/>
          <p:cNvSpPr/>
          <p:nvPr/>
        </p:nvSpPr>
        <p:spPr>
          <a:xfrm>
            <a:off x="11059120" y="2162175"/>
            <a:ext cx="3493889" cy="19050"/>
          </a:xfrm>
          <a:prstGeom prst="rect">
            <a:avLst/>
          </a:prstGeom>
          <a:solidFill>
            <a:srgbClr val="FFFFFF">
              <a:alpha val="30000"/>
            </a:srgbClr>
          </a:solidFill>
        </p:spPr>
      </p:sp>
      <p:sp>
        <p:nvSpPr>
          <p:cNvPr id="13" name="Text 11"/>
          <p:cNvSpPr/>
          <p:nvPr/>
        </p:nvSpPr>
        <p:spPr>
          <a:xfrm>
            <a:off x="11230570" y="1743075"/>
            <a:ext cx="3255806" cy="323850"/>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Customer</a:t>
            </a:r>
            <a:endParaRPr lang="en-US" sz="1800" dirty="0"/>
          </a:p>
        </p:txBody>
      </p:sp>
      <p:sp>
        <p:nvSpPr>
          <p:cNvPr id="14" name="Shape 12"/>
          <p:cNvSpPr/>
          <p:nvPr/>
        </p:nvSpPr>
        <p:spPr>
          <a:xfrm>
            <a:off x="14553009" y="2162175"/>
            <a:ext cx="3049191" cy="19050"/>
          </a:xfrm>
          <a:prstGeom prst="rect">
            <a:avLst/>
          </a:prstGeom>
          <a:solidFill>
            <a:srgbClr val="FFFFFF">
              <a:alpha val="30000"/>
            </a:srgbClr>
          </a:solidFill>
        </p:spPr>
      </p:sp>
      <p:sp>
        <p:nvSpPr>
          <p:cNvPr id="15" name="Text 13"/>
          <p:cNvSpPr/>
          <p:nvPr/>
        </p:nvSpPr>
        <p:spPr>
          <a:xfrm>
            <a:off x="14724459" y="1743075"/>
            <a:ext cx="2797766" cy="323850"/>
          </a:xfrm>
          <a:prstGeom prst="rect">
            <a:avLst/>
          </a:prstGeom>
          <a:noFill/>
        </p:spPr>
        <p:txBody>
          <a:bodyPr wrap="square" lIns="25400" tIns="25400" rIns="25400" bIns="25400" rtlCol="0" anchor="ctr">
            <a:normAutofit/>
          </a:bodyPr>
          <a:lstStyle/>
          <a:p>
            <a:pPr marL="0" indent="0" algn="l">
              <a:buNone/>
            </a:pPr>
            <a:r>
              <a:rPr lang="en-US" sz="1800" b="1" dirty="0">
                <a:solidFill>
                  <a:srgbClr val="FFD96A"/>
                </a:solidFill>
                <a:latin typeface="Arial" panose="020B0604020202020204" pitchFamily="34" charset="0"/>
                <a:ea typeface="Arial" panose="020B0604020202020204" pitchFamily="34" charset="-122"/>
                <a:cs typeface="Arial" panose="020B0604020202020204" pitchFamily="34" charset="-120"/>
              </a:rPr>
              <a:t>Employee</a:t>
            </a:r>
            <a:endParaRPr lang="en-US" sz="1800" dirty="0"/>
          </a:p>
        </p:txBody>
      </p:sp>
      <p:sp>
        <p:nvSpPr>
          <p:cNvPr id="16" name="Shape 14"/>
          <p:cNvSpPr/>
          <p:nvPr/>
        </p:nvSpPr>
        <p:spPr>
          <a:xfrm>
            <a:off x="685800" y="2767013"/>
            <a:ext cx="4359027" cy="9525"/>
          </a:xfrm>
          <a:prstGeom prst="rect">
            <a:avLst/>
          </a:prstGeom>
          <a:solidFill>
            <a:srgbClr val="FFFFFF">
              <a:alpha val="12000"/>
            </a:srgbClr>
          </a:solidFill>
        </p:spPr>
      </p:sp>
      <p:sp>
        <p:nvSpPr>
          <p:cNvPr id="17" name="Text 15"/>
          <p:cNvSpPr/>
          <p:nvPr/>
        </p:nvSpPr>
        <p:spPr>
          <a:xfrm>
            <a:off x="857250" y="2305050"/>
            <a:ext cx="4146898" cy="376238"/>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Dashboard</a:t>
            </a:r>
            <a:endParaRPr lang="en-US" sz="1800" dirty="0"/>
          </a:p>
        </p:txBody>
      </p:sp>
      <p:sp>
        <p:nvSpPr>
          <p:cNvPr id="18" name="Shape 16"/>
          <p:cNvSpPr/>
          <p:nvPr/>
        </p:nvSpPr>
        <p:spPr>
          <a:xfrm>
            <a:off x="5044827" y="2767013"/>
            <a:ext cx="3408313" cy="9525"/>
          </a:xfrm>
          <a:prstGeom prst="rect">
            <a:avLst/>
          </a:prstGeom>
          <a:solidFill>
            <a:srgbClr val="FFFFFF">
              <a:alpha val="12000"/>
            </a:srgbClr>
          </a:solidFill>
        </p:spPr>
      </p:sp>
      <p:sp>
        <p:nvSpPr>
          <p:cNvPr id="19" name="Text 17"/>
          <p:cNvSpPr/>
          <p:nvPr/>
        </p:nvSpPr>
        <p:spPr>
          <a:xfrm>
            <a:off x="5165152" y="2305050"/>
            <a:ext cx="3167662" cy="376238"/>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0" name="Shape 18"/>
          <p:cNvSpPr/>
          <p:nvPr/>
        </p:nvSpPr>
        <p:spPr>
          <a:xfrm>
            <a:off x="8453140" y="2767013"/>
            <a:ext cx="2605980" cy="9525"/>
          </a:xfrm>
          <a:prstGeom prst="rect">
            <a:avLst/>
          </a:prstGeom>
          <a:solidFill>
            <a:srgbClr val="FFFFFF">
              <a:alpha val="12000"/>
            </a:srgbClr>
          </a:solidFill>
        </p:spPr>
      </p:sp>
      <p:sp>
        <p:nvSpPr>
          <p:cNvPr id="21" name="Text 19"/>
          <p:cNvSpPr/>
          <p:nvPr/>
        </p:nvSpPr>
        <p:spPr>
          <a:xfrm>
            <a:off x="8585500" y="2305050"/>
            <a:ext cx="2341260" cy="376238"/>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22" name="Shape 20"/>
          <p:cNvSpPr/>
          <p:nvPr/>
        </p:nvSpPr>
        <p:spPr>
          <a:xfrm>
            <a:off x="11059120" y="2767013"/>
            <a:ext cx="3493889" cy="9525"/>
          </a:xfrm>
          <a:prstGeom prst="rect">
            <a:avLst/>
          </a:prstGeom>
          <a:solidFill>
            <a:srgbClr val="FFFFFF">
              <a:alpha val="12000"/>
            </a:srgbClr>
          </a:solidFill>
        </p:spPr>
      </p:sp>
      <p:sp>
        <p:nvSpPr>
          <p:cNvPr id="23" name="Shape 21"/>
          <p:cNvSpPr/>
          <p:nvPr/>
        </p:nvSpPr>
        <p:spPr>
          <a:xfrm>
            <a:off x="12314783" y="2314575"/>
            <a:ext cx="982563"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24" name="Text 22"/>
          <p:cNvSpPr/>
          <p:nvPr/>
        </p:nvSpPr>
        <p:spPr>
          <a:xfrm>
            <a:off x="12362408" y="2343150"/>
            <a:ext cx="887313"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Limited</a:t>
            </a:r>
            <a:endParaRPr lang="en-US" sz="1800" dirty="0"/>
          </a:p>
        </p:txBody>
      </p:sp>
      <p:sp>
        <p:nvSpPr>
          <p:cNvPr id="25" name="Shape 23"/>
          <p:cNvSpPr/>
          <p:nvPr/>
        </p:nvSpPr>
        <p:spPr>
          <a:xfrm>
            <a:off x="14553009" y="2767013"/>
            <a:ext cx="3049191" cy="9525"/>
          </a:xfrm>
          <a:prstGeom prst="rect">
            <a:avLst/>
          </a:prstGeom>
          <a:solidFill>
            <a:srgbClr val="FFFFFF">
              <a:alpha val="12000"/>
            </a:srgbClr>
          </a:solidFill>
        </p:spPr>
      </p:sp>
      <p:sp>
        <p:nvSpPr>
          <p:cNvPr id="26" name="Shape 24"/>
          <p:cNvSpPr/>
          <p:nvPr/>
        </p:nvSpPr>
        <p:spPr>
          <a:xfrm>
            <a:off x="15586323" y="2314575"/>
            <a:ext cx="982563"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27" name="Text 25"/>
          <p:cNvSpPr/>
          <p:nvPr/>
        </p:nvSpPr>
        <p:spPr>
          <a:xfrm>
            <a:off x="15633948" y="2343150"/>
            <a:ext cx="887313"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Limited</a:t>
            </a:r>
            <a:endParaRPr lang="en-US" sz="1800" dirty="0"/>
          </a:p>
        </p:txBody>
      </p:sp>
      <p:sp>
        <p:nvSpPr>
          <p:cNvPr id="28" name="Shape 26"/>
          <p:cNvSpPr/>
          <p:nvPr/>
        </p:nvSpPr>
        <p:spPr>
          <a:xfrm>
            <a:off x="685800" y="3328988"/>
            <a:ext cx="4359027" cy="9525"/>
          </a:xfrm>
          <a:prstGeom prst="rect">
            <a:avLst/>
          </a:prstGeom>
          <a:solidFill>
            <a:srgbClr val="FFFFFF">
              <a:alpha val="12000"/>
            </a:srgbClr>
          </a:solidFill>
        </p:spPr>
      </p:sp>
      <p:sp>
        <p:nvSpPr>
          <p:cNvPr id="29" name="Text 27"/>
          <p:cNvSpPr/>
          <p:nvPr/>
        </p:nvSpPr>
        <p:spPr>
          <a:xfrm>
            <a:off x="857250" y="2900363"/>
            <a:ext cx="4146898" cy="342900"/>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Companies</a:t>
            </a:r>
            <a:endParaRPr lang="en-US" sz="1800" dirty="0"/>
          </a:p>
        </p:txBody>
      </p:sp>
      <p:sp>
        <p:nvSpPr>
          <p:cNvPr id="30" name="Shape 28"/>
          <p:cNvSpPr/>
          <p:nvPr/>
        </p:nvSpPr>
        <p:spPr>
          <a:xfrm>
            <a:off x="5044827" y="3328988"/>
            <a:ext cx="3408313" cy="9525"/>
          </a:xfrm>
          <a:prstGeom prst="rect">
            <a:avLst/>
          </a:prstGeom>
          <a:solidFill>
            <a:srgbClr val="FFFFFF">
              <a:alpha val="12000"/>
            </a:srgbClr>
          </a:solidFill>
        </p:spPr>
      </p:sp>
      <p:sp>
        <p:nvSpPr>
          <p:cNvPr id="31" name="Text 29"/>
          <p:cNvSpPr/>
          <p:nvPr/>
        </p:nvSpPr>
        <p:spPr>
          <a:xfrm>
            <a:off x="5165152" y="2900363"/>
            <a:ext cx="3167662"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2" name="Shape 30"/>
          <p:cNvSpPr/>
          <p:nvPr/>
        </p:nvSpPr>
        <p:spPr>
          <a:xfrm>
            <a:off x="8453140" y="3328988"/>
            <a:ext cx="2605980" cy="9525"/>
          </a:xfrm>
          <a:prstGeom prst="rect">
            <a:avLst/>
          </a:prstGeom>
          <a:solidFill>
            <a:srgbClr val="FFFFFF">
              <a:alpha val="12000"/>
            </a:srgbClr>
          </a:solidFill>
        </p:spPr>
      </p:sp>
      <p:sp>
        <p:nvSpPr>
          <p:cNvPr id="33" name="Text 31"/>
          <p:cNvSpPr/>
          <p:nvPr/>
        </p:nvSpPr>
        <p:spPr>
          <a:xfrm>
            <a:off x="8585500" y="2900363"/>
            <a:ext cx="2341260" cy="342900"/>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4" name="Shape 32"/>
          <p:cNvSpPr/>
          <p:nvPr/>
        </p:nvSpPr>
        <p:spPr>
          <a:xfrm>
            <a:off x="11059120" y="3328988"/>
            <a:ext cx="3493889" cy="9525"/>
          </a:xfrm>
          <a:prstGeom prst="rect">
            <a:avLst/>
          </a:prstGeom>
          <a:solidFill>
            <a:srgbClr val="FFFFFF">
              <a:alpha val="12000"/>
            </a:srgbClr>
          </a:solidFill>
        </p:spPr>
      </p:sp>
      <p:sp>
        <p:nvSpPr>
          <p:cNvPr id="35" name="Text 33"/>
          <p:cNvSpPr/>
          <p:nvPr/>
        </p:nvSpPr>
        <p:spPr>
          <a:xfrm>
            <a:off x="11178162" y="2900363"/>
            <a:ext cx="3255806" cy="342900"/>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6" name="Shape 34"/>
          <p:cNvSpPr/>
          <p:nvPr/>
        </p:nvSpPr>
        <p:spPr>
          <a:xfrm>
            <a:off x="14553009" y="3328988"/>
            <a:ext cx="3049191" cy="9525"/>
          </a:xfrm>
          <a:prstGeom prst="rect">
            <a:avLst/>
          </a:prstGeom>
          <a:solidFill>
            <a:srgbClr val="FFFFFF">
              <a:alpha val="12000"/>
            </a:srgbClr>
          </a:solidFill>
        </p:spPr>
      </p:sp>
      <p:sp>
        <p:nvSpPr>
          <p:cNvPr id="37" name="Text 35"/>
          <p:cNvSpPr/>
          <p:nvPr/>
        </p:nvSpPr>
        <p:spPr>
          <a:xfrm>
            <a:off x="14678722" y="2900363"/>
            <a:ext cx="2797766" cy="342900"/>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8" name="Shape 36"/>
          <p:cNvSpPr/>
          <p:nvPr/>
        </p:nvSpPr>
        <p:spPr>
          <a:xfrm>
            <a:off x="685800" y="3919537"/>
            <a:ext cx="4359027" cy="9525"/>
          </a:xfrm>
          <a:prstGeom prst="rect">
            <a:avLst/>
          </a:prstGeom>
          <a:solidFill>
            <a:srgbClr val="FFFFFF">
              <a:alpha val="12000"/>
            </a:srgbClr>
          </a:solidFill>
        </p:spPr>
      </p:sp>
      <p:sp>
        <p:nvSpPr>
          <p:cNvPr id="39" name="Text 37"/>
          <p:cNvSpPr/>
          <p:nvPr/>
        </p:nvSpPr>
        <p:spPr>
          <a:xfrm>
            <a:off x="857250" y="3462337"/>
            <a:ext cx="4146898" cy="371475"/>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Users / Groups</a:t>
            </a:r>
            <a:endParaRPr lang="en-US" sz="1800" dirty="0"/>
          </a:p>
        </p:txBody>
      </p:sp>
      <p:sp>
        <p:nvSpPr>
          <p:cNvPr id="40" name="Shape 38"/>
          <p:cNvSpPr/>
          <p:nvPr/>
        </p:nvSpPr>
        <p:spPr>
          <a:xfrm>
            <a:off x="5044827" y="3919537"/>
            <a:ext cx="3408313" cy="9525"/>
          </a:xfrm>
          <a:prstGeom prst="rect">
            <a:avLst/>
          </a:prstGeom>
          <a:solidFill>
            <a:srgbClr val="FFFFFF">
              <a:alpha val="12000"/>
            </a:srgbClr>
          </a:solidFill>
        </p:spPr>
      </p:sp>
      <p:sp>
        <p:nvSpPr>
          <p:cNvPr id="41" name="Text 39"/>
          <p:cNvSpPr/>
          <p:nvPr/>
        </p:nvSpPr>
        <p:spPr>
          <a:xfrm>
            <a:off x="5165152" y="3462337"/>
            <a:ext cx="3167662" cy="371475"/>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42" name="Shape 40"/>
          <p:cNvSpPr/>
          <p:nvPr/>
        </p:nvSpPr>
        <p:spPr>
          <a:xfrm>
            <a:off x="8453140" y="3919537"/>
            <a:ext cx="2605980" cy="9525"/>
          </a:xfrm>
          <a:prstGeom prst="rect">
            <a:avLst/>
          </a:prstGeom>
          <a:solidFill>
            <a:srgbClr val="FFFFFF">
              <a:alpha val="12000"/>
            </a:srgbClr>
          </a:solidFill>
        </p:spPr>
      </p:sp>
      <p:sp>
        <p:nvSpPr>
          <p:cNvPr id="43" name="Shape 41"/>
          <p:cNvSpPr/>
          <p:nvPr/>
        </p:nvSpPr>
        <p:spPr>
          <a:xfrm>
            <a:off x="9264848" y="3467100"/>
            <a:ext cx="982563"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44" name="Text 42"/>
          <p:cNvSpPr/>
          <p:nvPr/>
        </p:nvSpPr>
        <p:spPr>
          <a:xfrm>
            <a:off x="9312473" y="3495675"/>
            <a:ext cx="887313"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Limited</a:t>
            </a:r>
            <a:endParaRPr lang="en-US" sz="1800" dirty="0"/>
          </a:p>
        </p:txBody>
      </p:sp>
      <p:sp>
        <p:nvSpPr>
          <p:cNvPr id="45" name="Shape 43"/>
          <p:cNvSpPr/>
          <p:nvPr/>
        </p:nvSpPr>
        <p:spPr>
          <a:xfrm>
            <a:off x="11059120" y="3919537"/>
            <a:ext cx="3493889" cy="9525"/>
          </a:xfrm>
          <a:prstGeom prst="rect">
            <a:avLst/>
          </a:prstGeom>
          <a:solidFill>
            <a:srgbClr val="FFFFFF">
              <a:alpha val="12000"/>
            </a:srgbClr>
          </a:solidFill>
        </p:spPr>
      </p:sp>
      <p:sp>
        <p:nvSpPr>
          <p:cNvPr id="46" name="Text 44"/>
          <p:cNvSpPr/>
          <p:nvPr/>
        </p:nvSpPr>
        <p:spPr>
          <a:xfrm>
            <a:off x="11178162" y="3462337"/>
            <a:ext cx="3255806" cy="371475"/>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47" name="Shape 45"/>
          <p:cNvSpPr/>
          <p:nvPr/>
        </p:nvSpPr>
        <p:spPr>
          <a:xfrm>
            <a:off x="14553009" y="3919537"/>
            <a:ext cx="3049191" cy="9525"/>
          </a:xfrm>
          <a:prstGeom prst="rect">
            <a:avLst/>
          </a:prstGeom>
          <a:solidFill>
            <a:srgbClr val="FFFFFF">
              <a:alpha val="12000"/>
            </a:srgbClr>
          </a:solidFill>
        </p:spPr>
      </p:sp>
      <p:sp>
        <p:nvSpPr>
          <p:cNvPr id="48" name="Text 46"/>
          <p:cNvSpPr/>
          <p:nvPr/>
        </p:nvSpPr>
        <p:spPr>
          <a:xfrm>
            <a:off x="14678722" y="3462337"/>
            <a:ext cx="2797766" cy="371475"/>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49" name="Shape 47"/>
          <p:cNvSpPr/>
          <p:nvPr/>
        </p:nvSpPr>
        <p:spPr>
          <a:xfrm>
            <a:off x="685800" y="4510088"/>
            <a:ext cx="4359027" cy="9525"/>
          </a:xfrm>
          <a:prstGeom prst="rect">
            <a:avLst/>
          </a:prstGeom>
          <a:solidFill>
            <a:srgbClr val="FFFFFF">
              <a:alpha val="12000"/>
            </a:srgbClr>
          </a:solidFill>
        </p:spPr>
      </p:sp>
      <p:sp>
        <p:nvSpPr>
          <p:cNvPr id="50" name="Text 48"/>
          <p:cNvSpPr/>
          <p:nvPr/>
        </p:nvSpPr>
        <p:spPr>
          <a:xfrm>
            <a:off x="857250" y="4052888"/>
            <a:ext cx="4146898" cy="371475"/>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Customers</a:t>
            </a:r>
            <a:endParaRPr lang="en-US" sz="1800" dirty="0"/>
          </a:p>
        </p:txBody>
      </p:sp>
      <p:sp>
        <p:nvSpPr>
          <p:cNvPr id="51" name="Shape 49"/>
          <p:cNvSpPr/>
          <p:nvPr/>
        </p:nvSpPr>
        <p:spPr>
          <a:xfrm>
            <a:off x="5044827" y="4510088"/>
            <a:ext cx="3408313" cy="9525"/>
          </a:xfrm>
          <a:prstGeom prst="rect">
            <a:avLst/>
          </a:prstGeom>
          <a:solidFill>
            <a:srgbClr val="FFFFFF">
              <a:alpha val="12000"/>
            </a:srgbClr>
          </a:solidFill>
        </p:spPr>
      </p:sp>
      <p:sp>
        <p:nvSpPr>
          <p:cNvPr id="52" name="Text 50"/>
          <p:cNvSpPr/>
          <p:nvPr/>
        </p:nvSpPr>
        <p:spPr>
          <a:xfrm>
            <a:off x="5165152" y="4052888"/>
            <a:ext cx="3167662" cy="371475"/>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53" name="Shape 51"/>
          <p:cNvSpPr/>
          <p:nvPr/>
        </p:nvSpPr>
        <p:spPr>
          <a:xfrm>
            <a:off x="8453140" y="4510088"/>
            <a:ext cx="2605980" cy="9525"/>
          </a:xfrm>
          <a:prstGeom prst="rect">
            <a:avLst/>
          </a:prstGeom>
          <a:solidFill>
            <a:srgbClr val="FFFFFF">
              <a:alpha val="12000"/>
            </a:srgbClr>
          </a:solidFill>
        </p:spPr>
      </p:sp>
      <p:sp>
        <p:nvSpPr>
          <p:cNvPr id="54" name="Text 52"/>
          <p:cNvSpPr/>
          <p:nvPr/>
        </p:nvSpPr>
        <p:spPr>
          <a:xfrm>
            <a:off x="8585500" y="4052888"/>
            <a:ext cx="2341260" cy="371475"/>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55" name="Shape 53"/>
          <p:cNvSpPr/>
          <p:nvPr/>
        </p:nvSpPr>
        <p:spPr>
          <a:xfrm>
            <a:off x="11059120" y="4510088"/>
            <a:ext cx="3493889" cy="9525"/>
          </a:xfrm>
          <a:prstGeom prst="rect">
            <a:avLst/>
          </a:prstGeom>
          <a:solidFill>
            <a:srgbClr val="FFFFFF">
              <a:alpha val="12000"/>
            </a:srgbClr>
          </a:solidFill>
        </p:spPr>
      </p:sp>
      <p:sp>
        <p:nvSpPr>
          <p:cNvPr id="56" name="Shape 54"/>
          <p:cNvSpPr/>
          <p:nvPr/>
        </p:nvSpPr>
        <p:spPr>
          <a:xfrm>
            <a:off x="12219236" y="4057650"/>
            <a:ext cx="1173510"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57" name="Text 55"/>
          <p:cNvSpPr/>
          <p:nvPr/>
        </p:nvSpPr>
        <p:spPr>
          <a:xfrm>
            <a:off x="12266861" y="4086225"/>
            <a:ext cx="1078260"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Self Only</a:t>
            </a:r>
            <a:endParaRPr lang="en-US" sz="1800" dirty="0"/>
          </a:p>
        </p:txBody>
      </p:sp>
      <p:sp>
        <p:nvSpPr>
          <p:cNvPr id="58" name="Shape 56"/>
          <p:cNvSpPr/>
          <p:nvPr/>
        </p:nvSpPr>
        <p:spPr>
          <a:xfrm>
            <a:off x="14553009" y="4510088"/>
            <a:ext cx="3049191" cy="9525"/>
          </a:xfrm>
          <a:prstGeom prst="rect">
            <a:avLst/>
          </a:prstGeom>
          <a:solidFill>
            <a:srgbClr val="FFFFFF">
              <a:alpha val="12000"/>
            </a:srgbClr>
          </a:solidFill>
        </p:spPr>
      </p:sp>
      <p:sp>
        <p:nvSpPr>
          <p:cNvPr id="59" name="Text 57"/>
          <p:cNvSpPr/>
          <p:nvPr/>
        </p:nvSpPr>
        <p:spPr>
          <a:xfrm>
            <a:off x="14678722" y="4052888"/>
            <a:ext cx="2797766" cy="371475"/>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60" name="Shape 58"/>
          <p:cNvSpPr/>
          <p:nvPr/>
        </p:nvSpPr>
        <p:spPr>
          <a:xfrm>
            <a:off x="685800" y="5100638"/>
            <a:ext cx="4359027" cy="9525"/>
          </a:xfrm>
          <a:prstGeom prst="rect">
            <a:avLst/>
          </a:prstGeom>
          <a:solidFill>
            <a:srgbClr val="FFFFFF">
              <a:alpha val="12000"/>
            </a:srgbClr>
          </a:solidFill>
        </p:spPr>
      </p:sp>
      <p:sp>
        <p:nvSpPr>
          <p:cNvPr id="61" name="Text 59"/>
          <p:cNvSpPr/>
          <p:nvPr/>
        </p:nvSpPr>
        <p:spPr>
          <a:xfrm>
            <a:off x="857250" y="4643438"/>
            <a:ext cx="4146898" cy="371475"/>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Employees</a:t>
            </a:r>
            <a:endParaRPr lang="en-US" sz="1800" dirty="0"/>
          </a:p>
        </p:txBody>
      </p:sp>
      <p:sp>
        <p:nvSpPr>
          <p:cNvPr id="62" name="Shape 60"/>
          <p:cNvSpPr/>
          <p:nvPr/>
        </p:nvSpPr>
        <p:spPr>
          <a:xfrm>
            <a:off x="5044827" y="5100638"/>
            <a:ext cx="3408313" cy="9525"/>
          </a:xfrm>
          <a:prstGeom prst="rect">
            <a:avLst/>
          </a:prstGeom>
          <a:solidFill>
            <a:srgbClr val="FFFFFF">
              <a:alpha val="12000"/>
            </a:srgbClr>
          </a:solidFill>
        </p:spPr>
      </p:sp>
      <p:sp>
        <p:nvSpPr>
          <p:cNvPr id="63" name="Text 61"/>
          <p:cNvSpPr/>
          <p:nvPr/>
        </p:nvSpPr>
        <p:spPr>
          <a:xfrm>
            <a:off x="5165152" y="4643438"/>
            <a:ext cx="3167662" cy="371475"/>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64" name="Shape 62"/>
          <p:cNvSpPr/>
          <p:nvPr/>
        </p:nvSpPr>
        <p:spPr>
          <a:xfrm>
            <a:off x="8453140" y="5100638"/>
            <a:ext cx="2605980" cy="9525"/>
          </a:xfrm>
          <a:prstGeom prst="rect">
            <a:avLst/>
          </a:prstGeom>
          <a:solidFill>
            <a:srgbClr val="FFFFFF">
              <a:alpha val="12000"/>
            </a:srgbClr>
          </a:solidFill>
        </p:spPr>
      </p:sp>
      <p:sp>
        <p:nvSpPr>
          <p:cNvPr id="65" name="Text 63"/>
          <p:cNvSpPr/>
          <p:nvPr/>
        </p:nvSpPr>
        <p:spPr>
          <a:xfrm>
            <a:off x="8585500" y="4643438"/>
            <a:ext cx="2341260" cy="371475"/>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66" name="Shape 64"/>
          <p:cNvSpPr/>
          <p:nvPr/>
        </p:nvSpPr>
        <p:spPr>
          <a:xfrm>
            <a:off x="11059120" y="5100638"/>
            <a:ext cx="3493889" cy="9525"/>
          </a:xfrm>
          <a:prstGeom prst="rect">
            <a:avLst/>
          </a:prstGeom>
          <a:solidFill>
            <a:srgbClr val="FFFFFF">
              <a:alpha val="12000"/>
            </a:srgbClr>
          </a:solidFill>
        </p:spPr>
      </p:sp>
      <p:sp>
        <p:nvSpPr>
          <p:cNvPr id="67" name="Text 65"/>
          <p:cNvSpPr/>
          <p:nvPr/>
        </p:nvSpPr>
        <p:spPr>
          <a:xfrm>
            <a:off x="11178162" y="4643438"/>
            <a:ext cx="3255806" cy="371475"/>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68" name="Shape 66"/>
          <p:cNvSpPr/>
          <p:nvPr/>
        </p:nvSpPr>
        <p:spPr>
          <a:xfrm>
            <a:off x="14553009" y="5100638"/>
            <a:ext cx="3049191" cy="9525"/>
          </a:xfrm>
          <a:prstGeom prst="rect">
            <a:avLst/>
          </a:prstGeom>
          <a:solidFill>
            <a:srgbClr val="FFFFFF">
              <a:alpha val="12000"/>
            </a:srgbClr>
          </a:solidFill>
        </p:spPr>
      </p:sp>
      <p:sp>
        <p:nvSpPr>
          <p:cNvPr id="69" name="Shape 67"/>
          <p:cNvSpPr/>
          <p:nvPr/>
        </p:nvSpPr>
        <p:spPr>
          <a:xfrm>
            <a:off x="15490775" y="4648200"/>
            <a:ext cx="1173510"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70" name="Text 68"/>
          <p:cNvSpPr/>
          <p:nvPr/>
        </p:nvSpPr>
        <p:spPr>
          <a:xfrm>
            <a:off x="15538400" y="4676775"/>
            <a:ext cx="1078260"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Self Only</a:t>
            </a:r>
            <a:endParaRPr lang="en-US" sz="1800" dirty="0"/>
          </a:p>
        </p:txBody>
      </p:sp>
      <p:sp>
        <p:nvSpPr>
          <p:cNvPr id="71" name="Shape 69"/>
          <p:cNvSpPr/>
          <p:nvPr/>
        </p:nvSpPr>
        <p:spPr>
          <a:xfrm>
            <a:off x="685800" y="5691188"/>
            <a:ext cx="4359027" cy="9525"/>
          </a:xfrm>
          <a:prstGeom prst="rect">
            <a:avLst/>
          </a:prstGeom>
          <a:solidFill>
            <a:srgbClr val="FFFFFF">
              <a:alpha val="12000"/>
            </a:srgbClr>
          </a:solidFill>
        </p:spPr>
      </p:sp>
      <p:sp>
        <p:nvSpPr>
          <p:cNvPr id="72" name="Text 70"/>
          <p:cNvSpPr/>
          <p:nvPr/>
        </p:nvSpPr>
        <p:spPr>
          <a:xfrm>
            <a:off x="857250" y="5233988"/>
            <a:ext cx="4146898" cy="371475"/>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Regulations</a:t>
            </a:r>
            <a:endParaRPr lang="en-US" sz="1800" dirty="0"/>
          </a:p>
        </p:txBody>
      </p:sp>
      <p:sp>
        <p:nvSpPr>
          <p:cNvPr id="73" name="Shape 71"/>
          <p:cNvSpPr/>
          <p:nvPr/>
        </p:nvSpPr>
        <p:spPr>
          <a:xfrm>
            <a:off x="5044827" y="5691188"/>
            <a:ext cx="3408313" cy="9525"/>
          </a:xfrm>
          <a:prstGeom prst="rect">
            <a:avLst/>
          </a:prstGeom>
          <a:solidFill>
            <a:srgbClr val="FFFFFF">
              <a:alpha val="12000"/>
            </a:srgbClr>
          </a:solidFill>
        </p:spPr>
      </p:sp>
      <p:sp>
        <p:nvSpPr>
          <p:cNvPr id="74" name="Text 72"/>
          <p:cNvSpPr/>
          <p:nvPr/>
        </p:nvSpPr>
        <p:spPr>
          <a:xfrm>
            <a:off x="5165152" y="5233988"/>
            <a:ext cx="3167662" cy="371475"/>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75" name="Shape 73"/>
          <p:cNvSpPr/>
          <p:nvPr/>
        </p:nvSpPr>
        <p:spPr>
          <a:xfrm>
            <a:off x="8453140" y="5691188"/>
            <a:ext cx="2605980" cy="9525"/>
          </a:xfrm>
          <a:prstGeom prst="rect">
            <a:avLst/>
          </a:prstGeom>
          <a:solidFill>
            <a:srgbClr val="FFFFFF">
              <a:alpha val="12000"/>
            </a:srgbClr>
          </a:solidFill>
        </p:spPr>
      </p:sp>
      <p:sp>
        <p:nvSpPr>
          <p:cNvPr id="76" name="Text 74"/>
          <p:cNvSpPr/>
          <p:nvPr/>
        </p:nvSpPr>
        <p:spPr>
          <a:xfrm>
            <a:off x="8585500" y="5233988"/>
            <a:ext cx="2341260" cy="371475"/>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77" name="Shape 75"/>
          <p:cNvSpPr/>
          <p:nvPr/>
        </p:nvSpPr>
        <p:spPr>
          <a:xfrm>
            <a:off x="11059120" y="5691188"/>
            <a:ext cx="3493889" cy="9525"/>
          </a:xfrm>
          <a:prstGeom prst="rect">
            <a:avLst/>
          </a:prstGeom>
          <a:solidFill>
            <a:srgbClr val="FFFFFF">
              <a:alpha val="12000"/>
            </a:srgbClr>
          </a:solidFill>
        </p:spPr>
      </p:sp>
      <p:sp>
        <p:nvSpPr>
          <p:cNvPr id="78" name="Shape 76"/>
          <p:cNvSpPr/>
          <p:nvPr/>
        </p:nvSpPr>
        <p:spPr>
          <a:xfrm>
            <a:off x="12089011" y="5238750"/>
            <a:ext cx="1434108"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79" name="Text 77"/>
          <p:cNvSpPr/>
          <p:nvPr/>
        </p:nvSpPr>
        <p:spPr>
          <a:xfrm>
            <a:off x="12136636" y="5267325"/>
            <a:ext cx="1338858"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Subscribed</a:t>
            </a:r>
            <a:endParaRPr lang="en-US" sz="1800" dirty="0"/>
          </a:p>
        </p:txBody>
      </p:sp>
      <p:sp>
        <p:nvSpPr>
          <p:cNvPr id="80" name="Shape 78"/>
          <p:cNvSpPr/>
          <p:nvPr/>
        </p:nvSpPr>
        <p:spPr>
          <a:xfrm>
            <a:off x="14553009" y="5691188"/>
            <a:ext cx="3049191" cy="9525"/>
          </a:xfrm>
          <a:prstGeom prst="rect">
            <a:avLst/>
          </a:prstGeom>
          <a:solidFill>
            <a:srgbClr val="FFFFFF">
              <a:alpha val="12000"/>
            </a:srgbClr>
          </a:solidFill>
        </p:spPr>
      </p:sp>
      <p:sp>
        <p:nvSpPr>
          <p:cNvPr id="81" name="Shape 79"/>
          <p:cNvSpPr/>
          <p:nvPr/>
        </p:nvSpPr>
        <p:spPr>
          <a:xfrm>
            <a:off x="15473660" y="5238750"/>
            <a:ext cx="1207740"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82" name="Text 80"/>
          <p:cNvSpPr/>
          <p:nvPr/>
        </p:nvSpPr>
        <p:spPr>
          <a:xfrm>
            <a:off x="15521285" y="5267325"/>
            <a:ext cx="1112490" cy="314325"/>
          </a:xfrm>
          <a:prstGeom prst="rect">
            <a:avLst/>
          </a:prstGeom>
          <a:noFill/>
        </p:spPr>
        <p:txBody>
          <a:bodyPr wrap="square" lIns="25400" tIns="25400" rIns="25400" bIns="25400" rtlCol="0" anchor="t">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Assigned</a:t>
            </a:r>
            <a:endParaRPr lang="en-US" sz="1800" dirty="0"/>
          </a:p>
        </p:txBody>
      </p:sp>
      <p:sp>
        <p:nvSpPr>
          <p:cNvPr id="83" name="Shape 81"/>
          <p:cNvSpPr/>
          <p:nvPr/>
        </p:nvSpPr>
        <p:spPr>
          <a:xfrm>
            <a:off x="685800" y="6253163"/>
            <a:ext cx="4359027" cy="9525"/>
          </a:xfrm>
          <a:prstGeom prst="rect">
            <a:avLst/>
          </a:prstGeom>
          <a:solidFill>
            <a:srgbClr val="FFFFFF">
              <a:alpha val="12000"/>
            </a:srgbClr>
          </a:solidFill>
        </p:spPr>
      </p:sp>
      <p:sp>
        <p:nvSpPr>
          <p:cNvPr id="84" name="Text 82"/>
          <p:cNvSpPr/>
          <p:nvPr/>
        </p:nvSpPr>
        <p:spPr>
          <a:xfrm>
            <a:off x="857250" y="5824538"/>
            <a:ext cx="4146898" cy="342900"/>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Notifications</a:t>
            </a:r>
            <a:endParaRPr lang="en-US" sz="1800" dirty="0"/>
          </a:p>
        </p:txBody>
      </p:sp>
      <p:sp>
        <p:nvSpPr>
          <p:cNvPr id="85" name="Shape 83"/>
          <p:cNvSpPr/>
          <p:nvPr/>
        </p:nvSpPr>
        <p:spPr>
          <a:xfrm>
            <a:off x="5044827" y="6253163"/>
            <a:ext cx="3408313" cy="9525"/>
          </a:xfrm>
          <a:prstGeom prst="rect">
            <a:avLst/>
          </a:prstGeom>
          <a:solidFill>
            <a:srgbClr val="FFFFFF">
              <a:alpha val="12000"/>
            </a:srgbClr>
          </a:solidFill>
        </p:spPr>
      </p:sp>
      <p:sp>
        <p:nvSpPr>
          <p:cNvPr id="86" name="Text 84"/>
          <p:cNvSpPr/>
          <p:nvPr/>
        </p:nvSpPr>
        <p:spPr>
          <a:xfrm>
            <a:off x="5165152" y="5824538"/>
            <a:ext cx="3167662"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87" name="Shape 85"/>
          <p:cNvSpPr/>
          <p:nvPr/>
        </p:nvSpPr>
        <p:spPr>
          <a:xfrm>
            <a:off x="8453140" y="6253163"/>
            <a:ext cx="2605980" cy="9525"/>
          </a:xfrm>
          <a:prstGeom prst="rect">
            <a:avLst/>
          </a:prstGeom>
          <a:solidFill>
            <a:srgbClr val="FFFFFF">
              <a:alpha val="12000"/>
            </a:srgbClr>
          </a:solidFill>
        </p:spPr>
      </p:sp>
      <p:sp>
        <p:nvSpPr>
          <p:cNvPr id="88" name="Text 86"/>
          <p:cNvSpPr/>
          <p:nvPr/>
        </p:nvSpPr>
        <p:spPr>
          <a:xfrm>
            <a:off x="8585500" y="5824538"/>
            <a:ext cx="2341260"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89" name="Shape 87"/>
          <p:cNvSpPr/>
          <p:nvPr/>
        </p:nvSpPr>
        <p:spPr>
          <a:xfrm>
            <a:off x="11059120" y="6253163"/>
            <a:ext cx="3493889" cy="9525"/>
          </a:xfrm>
          <a:prstGeom prst="rect">
            <a:avLst/>
          </a:prstGeom>
          <a:solidFill>
            <a:srgbClr val="FFFFFF">
              <a:alpha val="12000"/>
            </a:srgbClr>
          </a:solidFill>
        </p:spPr>
      </p:sp>
      <p:sp>
        <p:nvSpPr>
          <p:cNvPr id="90" name="Text 88"/>
          <p:cNvSpPr/>
          <p:nvPr/>
        </p:nvSpPr>
        <p:spPr>
          <a:xfrm>
            <a:off x="11178162" y="5824538"/>
            <a:ext cx="3255806"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91" name="Shape 89"/>
          <p:cNvSpPr/>
          <p:nvPr/>
        </p:nvSpPr>
        <p:spPr>
          <a:xfrm>
            <a:off x="14553009" y="6253163"/>
            <a:ext cx="3049191" cy="9525"/>
          </a:xfrm>
          <a:prstGeom prst="rect">
            <a:avLst/>
          </a:prstGeom>
          <a:solidFill>
            <a:srgbClr val="FFFFFF">
              <a:alpha val="12000"/>
            </a:srgbClr>
          </a:solidFill>
        </p:spPr>
      </p:sp>
      <p:sp>
        <p:nvSpPr>
          <p:cNvPr id="92" name="Text 90"/>
          <p:cNvSpPr/>
          <p:nvPr/>
        </p:nvSpPr>
        <p:spPr>
          <a:xfrm>
            <a:off x="14678722" y="5824538"/>
            <a:ext cx="2797766"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93" name="Shape 91"/>
          <p:cNvSpPr/>
          <p:nvPr/>
        </p:nvSpPr>
        <p:spPr>
          <a:xfrm>
            <a:off x="685800" y="6815138"/>
            <a:ext cx="4359027" cy="9525"/>
          </a:xfrm>
          <a:prstGeom prst="rect">
            <a:avLst/>
          </a:prstGeom>
          <a:solidFill>
            <a:srgbClr val="FFFFFF">
              <a:alpha val="12000"/>
            </a:srgbClr>
          </a:solidFill>
        </p:spPr>
      </p:sp>
      <p:sp>
        <p:nvSpPr>
          <p:cNvPr id="94" name="Text 92"/>
          <p:cNvSpPr/>
          <p:nvPr/>
        </p:nvSpPr>
        <p:spPr>
          <a:xfrm>
            <a:off x="857250" y="6386513"/>
            <a:ext cx="4146898" cy="342900"/>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95" name="Shape 93"/>
          <p:cNvSpPr/>
          <p:nvPr/>
        </p:nvSpPr>
        <p:spPr>
          <a:xfrm>
            <a:off x="5044827" y="6815138"/>
            <a:ext cx="3408313" cy="9525"/>
          </a:xfrm>
          <a:prstGeom prst="rect">
            <a:avLst/>
          </a:prstGeom>
          <a:solidFill>
            <a:srgbClr val="FFFFFF">
              <a:alpha val="12000"/>
            </a:srgbClr>
          </a:solidFill>
        </p:spPr>
      </p:sp>
      <p:sp>
        <p:nvSpPr>
          <p:cNvPr id="96" name="Text 94"/>
          <p:cNvSpPr/>
          <p:nvPr/>
        </p:nvSpPr>
        <p:spPr>
          <a:xfrm>
            <a:off x="5165152" y="6386513"/>
            <a:ext cx="3167662"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97" name="Shape 95"/>
          <p:cNvSpPr/>
          <p:nvPr/>
        </p:nvSpPr>
        <p:spPr>
          <a:xfrm>
            <a:off x="8453140" y="6815138"/>
            <a:ext cx="2605980" cy="9525"/>
          </a:xfrm>
          <a:prstGeom prst="rect">
            <a:avLst/>
          </a:prstGeom>
          <a:solidFill>
            <a:srgbClr val="FFFFFF">
              <a:alpha val="12000"/>
            </a:srgbClr>
          </a:solidFill>
        </p:spPr>
      </p:sp>
      <p:sp>
        <p:nvSpPr>
          <p:cNvPr id="98" name="Text 96"/>
          <p:cNvSpPr/>
          <p:nvPr/>
        </p:nvSpPr>
        <p:spPr>
          <a:xfrm>
            <a:off x="8585500" y="6386513"/>
            <a:ext cx="2341260"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99" name="Shape 97"/>
          <p:cNvSpPr/>
          <p:nvPr/>
        </p:nvSpPr>
        <p:spPr>
          <a:xfrm>
            <a:off x="11059120" y="6815138"/>
            <a:ext cx="3493889" cy="9525"/>
          </a:xfrm>
          <a:prstGeom prst="rect">
            <a:avLst/>
          </a:prstGeom>
          <a:solidFill>
            <a:srgbClr val="FFFFFF">
              <a:alpha val="12000"/>
            </a:srgbClr>
          </a:solidFill>
        </p:spPr>
      </p:sp>
      <p:sp>
        <p:nvSpPr>
          <p:cNvPr id="100" name="Text 98"/>
          <p:cNvSpPr/>
          <p:nvPr/>
        </p:nvSpPr>
        <p:spPr>
          <a:xfrm>
            <a:off x="11178162" y="6386513"/>
            <a:ext cx="3255806"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1" name="Shape 99"/>
          <p:cNvSpPr/>
          <p:nvPr/>
        </p:nvSpPr>
        <p:spPr>
          <a:xfrm>
            <a:off x="14553009" y="6815138"/>
            <a:ext cx="3049191" cy="9525"/>
          </a:xfrm>
          <a:prstGeom prst="rect">
            <a:avLst/>
          </a:prstGeom>
          <a:solidFill>
            <a:srgbClr val="FFFFFF">
              <a:alpha val="12000"/>
            </a:srgbClr>
          </a:solidFill>
        </p:spPr>
      </p:sp>
      <p:sp>
        <p:nvSpPr>
          <p:cNvPr id="102" name="Text 100"/>
          <p:cNvSpPr/>
          <p:nvPr/>
        </p:nvSpPr>
        <p:spPr>
          <a:xfrm>
            <a:off x="14678722" y="6386513"/>
            <a:ext cx="2797766" cy="342900"/>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3" name="Text 101"/>
          <p:cNvSpPr/>
          <p:nvPr/>
        </p:nvSpPr>
        <p:spPr>
          <a:xfrm>
            <a:off x="857250" y="6948488"/>
            <a:ext cx="4146898" cy="347663"/>
          </a:xfrm>
          <a:prstGeom prst="rect">
            <a:avLst/>
          </a:prstGeom>
          <a:noFill/>
        </p:spPr>
        <p:txBody>
          <a:bodyPr wrap="square" lIns="25400" tIns="25400" rIns="25400" bIns="25400" rtlCol="0" anchor="ctr">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Scheduler / Sync</a:t>
            </a:r>
            <a:endParaRPr lang="en-US" sz="1800" dirty="0"/>
          </a:p>
        </p:txBody>
      </p:sp>
      <p:sp>
        <p:nvSpPr>
          <p:cNvPr id="104" name="Text 102"/>
          <p:cNvSpPr/>
          <p:nvPr/>
        </p:nvSpPr>
        <p:spPr>
          <a:xfrm>
            <a:off x="5165152" y="6948488"/>
            <a:ext cx="3167662" cy="347663"/>
          </a:xfrm>
          <a:prstGeom prst="rect">
            <a:avLst/>
          </a:prstGeom>
          <a:noFill/>
        </p:spPr>
        <p:txBody>
          <a:bodyPr wrap="square" lIns="25400" tIns="25400" rIns="25400" bIns="25400" rtlCol="0" anchor="ctr">
            <a:normAutofit/>
          </a:bodyPr>
          <a:lstStyle/>
          <a:p>
            <a:pPr marL="0" indent="0" algn="ctr">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5" name="Text 103"/>
          <p:cNvSpPr/>
          <p:nvPr/>
        </p:nvSpPr>
        <p:spPr>
          <a:xfrm>
            <a:off x="8585500" y="6948488"/>
            <a:ext cx="2341260" cy="347663"/>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6" name="Text 104"/>
          <p:cNvSpPr/>
          <p:nvPr/>
        </p:nvSpPr>
        <p:spPr>
          <a:xfrm>
            <a:off x="11178162" y="6948488"/>
            <a:ext cx="3255806" cy="347663"/>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7" name="Text 105"/>
          <p:cNvSpPr/>
          <p:nvPr/>
        </p:nvSpPr>
        <p:spPr>
          <a:xfrm>
            <a:off x="14678722" y="6948488"/>
            <a:ext cx="2797766" cy="347663"/>
          </a:xfrm>
          <a:prstGeom prst="rect">
            <a:avLst/>
          </a:prstGeom>
          <a:noFill/>
        </p:spPr>
        <p:txBody>
          <a:bodyPr wrap="square" lIns="25400" tIns="25400" rIns="25400" bIns="25400" rtlCol="0" anchor="ctr">
            <a:normAutofit/>
          </a:bodyPr>
          <a:lstStyle/>
          <a:p>
            <a:pPr marL="0" indent="0" algn="ctr">
              <a:buNone/>
            </a:pPr>
            <a:r>
              <a:rPr lang="en-US" sz="1800" dirty="0">
                <a:solidFill>
                  <a:srgbClr val="FFFFFF">
                    <a:alpha val="30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8" name="Text 106"/>
          <p:cNvSpPr/>
          <p:nvPr/>
        </p:nvSpPr>
        <p:spPr>
          <a:xfrm>
            <a:off x="685800" y="7567612"/>
            <a:ext cx="247501" cy="342900"/>
          </a:xfrm>
          <a:prstGeom prst="rect">
            <a:avLst/>
          </a:prstGeom>
          <a:noFill/>
        </p:spPr>
        <p:txBody>
          <a:bodyPr wrap="square" lIns="25400" tIns="25400" rIns="25400" bIns="25400" rtlCol="0" anchor="t">
            <a:normAutofit/>
          </a:bodyPr>
          <a:lstStyle/>
          <a:p>
            <a:pPr marL="0" indent="0" algn="l">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09" name="Text 107"/>
          <p:cNvSpPr/>
          <p:nvPr/>
        </p:nvSpPr>
        <p:spPr>
          <a:xfrm>
            <a:off x="933301" y="7586663"/>
            <a:ext cx="1232297" cy="295275"/>
          </a:xfrm>
          <a:prstGeom prst="rect">
            <a:avLst/>
          </a:prstGeom>
          <a:noFill/>
        </p:spPr>
        <p:txBody>
          <a:bodyPr wrap="square" lIns="0" tIns="0" rIns="0" bIns="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Full Access</a:t>
            </a:r>
            <a:endParaRPr lang="en-US" sz="1800" dirty="0"/>
          </a:p>
        </p:txBody>
      </p:sp>
      <p:sp>
        <p:nvSpPr>
          <p:cNvPr id="110" name="Shape 108"/>
          <p:cNvSpPr/>
          <p:nvPr/>
        </p:nvSpPr>
        <p:spPr>
          <a:xfrm>
            <a:off x="2317998" y="7553325"/>
            <a:ext cx="982563" cy="333375"/>
          </a:xfrm>
          <a:prstGeom prst="roundRect">
            <a:avLst>
              <a:gd name="adj" fmla="val 11429"/>
            </a:avLst>
          </a:prstGeom>
          <a:solidFill>
            <a:srgbClr val="FFFFFF">
              <a:alpha val="18000"/>
            </a:srgbClr>
          </a:solidFill>
          <a:ln w="9525">
            <a:solidFill>
              <a:srgbClr val="FFFFFF">
                <a:alpha val="35000"/>
              </a:srgbClr>
            </a:solidFill>
            <a:prstDash val="solid"/>
          </a:ln>
        </p:spPr>
      </p:sp>
      <p:sp>
        <p:nvSpPr>
          <p:cNvPr id="111" name="Text 109"/>
          <p:cNvSpPr/>
          <p:nvPr/>
        </p:nvSpPr>
        <p:spPr>
          <a:xfrm>
            <a:off x="2403723" y="7581900"/>
            <a:ext cx="887313" cy="31432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Limited</a:t>
            </a:r>
            <a:endParaRPr lang="en-US" sz="1800" dirty="0"/>
          </a:p>
        </p:txBody>
      </p:sp>
      <p:sp>
        <p:nvSpPr>
          <p:cNvPr id="112" name="Text 110"/>
          <p:cNvSpPr/>
          <p:nvPr/>
        </p:nvSpPr>
        <p:spPr>
          <a:xfrm>
            <a:off x="3376761" y="7586663"/>
            <a:ext cx="1639342" cy="295275"/>
          </a:xfrm>
          <a:prstGeom prst="rect">
            <a:avLst/>
          </a:prstGeom>
          <a:noFill/>
        </p:spPr>
        <p:txBody>
          <a:bodyPr wrap="square" lIns="0" tIns="0" rIns="0" bIns="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Scoped Access</a:t>
            </a:r>
            <a:endParaRPr lang="en-US" sz="1800" dirty="0"/>
          </a:p>
        </p:txBody>
      </p:sp>
      <p:sp>
        <p:nvSpPr>
          <p:cNvPr id="113" name="Text 111"/>
          <p:cNvSpPr/>
          <p:nvPr/>
        </p:nvSpPr>
        <p:spPr>
          <a:xfrm>
            <a:off x="5168503" y="7586663"/>
            <a:ext cx="304800"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alpha val="21000"/>
                  </a:srgbClr>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14" name="Text 112"/>
          <p:cNvSpPr/>
          <p:nvPr/>
        </p:nvSpPr>
        <p:spPr>
          <a:xfrm>
            <a:off x="5473303" y="7586663"/>
            <a:ext cx="1156246" cy="295275"/>
          </a:xfrm>
          <a:prstGeom prst="rect">
            <a:avLst/>
          </a:prstGeom>
          <a:noFill/>
        </p:spPr>
        <p:txBody>
          <a:bodyPr wrap="square" lIns="0" tIns="0" rIns="0" bIns="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No Access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DASHBOARDS</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Each Role Sees a Different Dashboard</a:t>
            </a:r>
            <a:endParaRPr lang="en-US" sz="3000" dirty="0"/>
          </a:p>
        </p:txBody>
      </p:sp>
      <p:sp>
        <p:nvSpPr>
          <p:cNvPr id="6" name="Shape 4"/>
          <p:cNvSpPr/>
          <p:nvPr/>
        </p:nvSpPr>
        <p:spPr>
          <a:xfrm>
            <a:off x="685800" y="1533525"/>
            <a:ext cx="4029075" cy="885825"/>
          </a:xfrm>
          <a:prstGeom prst="roundRect">
            <a:avLst>
              <a:gd name="adj" fmla="val 12903"/>
            </a:avLst>
          </a:prstGeom>
          <a:solidFill>
            <a:srgbClr val="3B2080"/>
          </a:solidFill>
        </p:spPr>
      </p:sp>
      <p:sp>
        <p:nvSpPr>
          <p:cNvPr id="7" name="Shape 5"/>
          <p:cNvSpPr/>
          <p:nvPr/>
        </p:nvSpPr>
        <p:spPr>
          <a:xfrm>
            <a:off x="685800" y="1533525"/>
            <a:ext cx="4029075" cy="9525"/>
          </a:xfrm>
          <a:prstGeom prst="rect">
            <a:avLst/>
          </a:prstGeom>
          <a:solidFill>
            <a:srgbClr val="7C3AED">
              <a:alpha val="35000"/>
            </a:srgbClr>
          </a:solidFill>
        </p:spPr>
      </p:sp>
      <p:sp>
        <p:nvSpPr>
          <p:cNvPr id="8" name="Shape 6"/>
          <p:cNvSpPr/>
          <p:nvPr/>
        </p:nvSpPr>
        <p:spPr>
          <a:xfrm>
            <a:off x="685800" y="1533525"/>
            <a:ext cx="9525" cy="885825"/>
          </a:xfrm>
          <a:prstGeom prst="rect">
            <a:avLst/>
          </a:prstGeom>
          <a:solidFill>
            <a:srgbClr val="7C3AED">
              <a:alpha val="35000"/>
            </a:srgbClr>
          </a:solidFill>
        </p:spPr>
      </p:sp>
      <p:sp>
        <p:nvSpPr>
          <p:cNvPr id="9" name="Shape 7"/>
          <p:cNvSpPr/>
          <p:nvPr/>
        </p:nvSpPr>
        <p:spPr>
          <a:xfrm>
            <a:off x="4705350" y="1533525"/>
            <a:ext cx="9525" cy="885825"/>
          </a:xfrm>
          <a:prstGeom prst="rect">
            <a:avLst/>
          </a:prstGeom>
          <a:solidFill>
            <a:srgbClr val="7C3AED">
              <a:alpha val="35000"/>
            </a:srgbClr>
          </a:solidFill>
        </p:spPr>
      </p:sp>
      <p:sp>
        <p:nvSpPr>
          <p:cNvPr id="10" name="Text 8"/>
          <p:cNvSpPr/>
          <p:nvPr/>
        </p:nvSpPr>
        <p:spPr>
          <a:xfrm>
            <a:off x="885825" y="1828800"/>
            <a:ext cx="390079" cy="3429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11" name="Text 9"/>
          <p:cNvSpPr/>
          <p:nvPr/>
        </p:nvSpPr>
        <p:spPr>
          <a:xfrm>
            <a:off x="1294954" y="1695450"/>
            <a:ext cx="2201466" cy="333375"/>
          </a:xfrm>
          <a:prstGeom prst="rect">
            <a:avLst/>
          </a:prstGeom>
          <a:noFill/>
        </p:spPr>
        <p:txBody>
          <a:bodyPr wrap="square" lIns="25400" tIns="25400" rIns="25400" bIns="25400" rtlCol="0" anchor="t">
            <a:normAutofit/>
          </a:bodyPr>
          <a:lstStyle/>
          <a:p>
            <a:pPr marL="0" indent="0" algn="l">
              <a:buNone/>
            </a:pPr>
            <a:r>
              <a:rPr lang="en-US" sz="1800" b="1" dirty="0">
                <a:solidFill>
                  <a:srgbClr val="F5F8FF"/>
                </a:solidFill>
                <a:latin typeface="Arial" panose="020B0604020202020204" pitchFamily="34" charset="0"/>
                <a:ea typeface="Arial" panose="020B0604020202020204" pitchFamily="34" charset="-122"/>
                <a:cs typeface="Arial" panose="020B0604020202020204" pitchFamily="34" charset="-120"/>
              </a:rPr>
              <a:t>Super Admin</a:t>
            </a:r>
            <a:endParaRPr lang="en-US" sz="1800" dirty="0"/>
          </a:p>
        </p:txBody>
      </p:sp>
      <p:sp>
        <p:nvSpPr>
          <p:cNvPr id="12" name="Text 10"/>
          <p:cNvSpPr/>
          <p:nvPr/>
        </p:nvSpPr>
        <p:spPr>
          <a:xfrm>
            <a:off x="1294954" y="1990725"/>
            <a:ext cx="2201466"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A78BFA"/>
                </a:solidFill>
                <a:latin typeface="Arial" panose="020B0604020202020204" pitchFamily="34" charset="0"/>
                <a:ea typeface="Arial" panose="020B0604020202020204" pitchFamily="34" charset="-122"/>
                <a:cs typeface="Arial" panose="020B0604020202020204" pitchFamily="34" charset="-120"/>
              </a:rPr>
              <a:t>Platform Overview</a:t>
            </a:r>
            <a:endParaRPr lang="en-US" sz="1800" dirty="0"/>
          </a:p>
        </p:txBody>
      </p:sp>
      <p:sp>
        <p:nvSpPr>
          <p:cNvPr id="13" name="Shape 11"/>
          <p:cNvSpPr/>
          <p:nvPr/>
        </p:nvSpPr>
        <p:spPr>
          <a:xfrm>
            <a:off x="685800" y="2419350"/>
            <a:ext cx="4029075" cy="7562850"/>
          </a:xfrm>
          <a:prstGeom prst="rect">
            <a:avLst/>
          </a:prstGeom>
          <a:solidFill>
            <a:srgbClr val="1A55B8"/>
          </a:solidFill>
          <a:ln w="9525">
            <a:solidFill>
              <a:srgbClr val="7C3AED">
                <a:alpha val="25000"/>
              </a:srgbClr>
            </a:solidFill>
            <a:prstDash val="solid"/>
          </a:ln>
        </p:spPr>
      </p:sp>
      <p:sp>
        <p:nvSpPr>
          <p:cNvPr id="14" name="Shape 12"/>
          <p:cNvSpPr/>
          <p:nvPr/>
        </p:nvSpPr>
        <p:spPr>
          <a:xfrm>
            <a:off x="885825" y="2600325"/>
            <a:ext cx="1776413" cy="857250"/>
          </a:xfrm>
          <a:prstGeom prst="roundRect">
            <a:avLst>
              <a:gd name="adj" fmla="val 8889"/>
            </a:avLst>
          </a:prstGeom>
          <a:solidFill>
            <a:srgbClr val="3B2080"/>
          </a:solidFill>
          <a:ln w="9525">
            <a:solidFill>
              <a:srgbClr val="FFFFFF">
                <a:alpha val="25000"/>
              </a:srgbClr>
            </a:solidFill>
            <a:prstDash val="solid"/>
          </a:ln>
        </p:spPr>
      </p:sp>
      <p:sp>
        <p:nvSpPr>
          <p:cNvPr id="15" name="Text 13"/>
          <p:cNvSpPr/>
          <p:nvPr/>
        </p:nvSpPr>
        <p:spPr>
          <a:xfrm>
            <a:off x="1028700" y="272415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12</a:t>
            </a:r>
            <a:endParaRPr lang="en-US" sz="2100" dirty="0"/>
          </a:p>
        </p:txBody>
      </p:sp>
      <p:sp>
        <p:nvSpPr>
          <p:cNvPr id="16" name="Text 14"/>
          <p:cNvSpPr/>
          <p:nvPr/>
        </p:nvSpPr>
        <p:spPr>
          <a:xfrm>
            <a:off x="1028700" y="306705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Companies</a:t>
            </a:r>
            <a:endParaRPr lang="en-US" sz="1800" dirty="0"/>
          </a:p>
        </p:txBody>
      </p:sp>
      <p:sp>
        <p:nvSpPr>
          <p:cNvPr id="17" name="Shape 15"/>
          <p:cNvSpPr/>
          <p:nvPr/>
        </p:nvSpPr>
        <p:spPr>
          <a:xfrm>
            <a:off x="2738438" y="2600325"/>
            <a:ext cx="1776413" cy="857250"/>
          </a:xfrm>
          <a:prstGeom prst="roundRect">
            <a:avLst>
              <a:gd name="adj" fmla="val 8889"/>
            </a:avLst>
          </a:prstGeom>
          <a:solidFill>
            <a:srgbClr val="3B2080"/>
          </a:solidFill>
          <a:ln w="9525">
            <a:solidFill>
              <a:srgbClr val="FFFFFF">
                <a:alpha val="25000"/>
              </a:srgbClr>
            </a:solidFill>
            <a:prstDash val="solid"/>
          </a:ln>
        </p:spPr>
      </p:sp>
      <p:sp>
        <p:nvSpPr>
          <p:cNvPr id="18" name="Text 16"/>
          <p:cNvSpPr/>
          <p:nvPr/>
        </p:nvSpPr>
        <p:spPr>
          <a:xfrm>
            <a:off x="2881313" y="272415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348</a:t>
            </a:r>
            <a:endParaRPr lang="en-US" sz="2100" dirty="0"/>
          </a:p>
        </p:txBody>
      </p:sp>
      <p:sp>
        <p:nvSpPr>
          <p:cNvPr id="19" name="Text 17"/>
          <p:cNvSpPr/>
          <p:nvPr/>
        </p:nvSpPr>
        <p:spPr>
          <a:xfrm>
            <a:off x="2881313" y="306705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Total Users</a:t>
            </a:r>
            <a:endParaRPr lang="en-US" sz="1800" dirty="0"/>
          </a:p>
        </p:txBody>
      </p:sp>
      <p:sp>
        <p:nvSpPr>
          <p:cNvPr id="20" name="Shape 18"/>
          <p:cNvSpPr/>
          <p:nvPr/>
        </p:nvSpPr>
        <p:spPr>
          <a:xfrm>
            <a:off x="885825" y="3533775"/>
            <a:ext cx="1776413" cy="876300"/>
          </a:xfrm>
          <a:prstGeom prst="roundRect">
            <a:avLst>
              <a:gd name="adj" fmla="val 8696"/>
            </a:avLst>
          </a:prstGeom>
          <a:solidFill>
            <a:srgbClr val="3B2080"/>
          </a:solidFill>
          <a:ln w="9525">
            <a:solidFill>
              <a:srgbClr val="FFFFFF">
                <a:alpha val="25000"/>
              </a:srgbClr>
            </a:solidFill>
            <a:prstDash val="solid"/>
          </a:ln>
        </p:spPr>
      </p:sp>
      <p:sp>
        <p:nvSpPr>
          <p:cNvPr id="21" name="Text 19"/>
          <p:cNvSpPr/>
          <p:nvPr/>
        </p:nvSpPr>
        <p:spPr>
          <a:xfrm>
            <a:off x="1028700" y="365760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2100" dirty="0"/>
          </a:p>
        </p:txBody>
      </p:sp>
      <p:sp>
        <p:nvSpPr>
          <p:cNvPr id="22" name="Text 20"/>
          <p:cNvSpPr/>
          <p:nvPr/>
        </p:nvSpPr>
        <p:spPr>
          <a:xfrm>
            <a:off x="1028700" y="400050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23" name="Shape 21"/>
          <p:cNvSpPr/>
          <p:nvPr/>
        </p:nvSpPr>
        <p:spPr>
          <a:xfrm>
            <a:off x="2738438" y="3533775"/>
            <a:ext cx="1776413" cy="876300"/>
          </a:xfrm>
          <a:prstGeom prst="roundRect">
            <a:avLst>
              <a:gd name="adj" fmla="val 8696"/>
            </a:avLst>
          </a:prstGeom>
          <a:solidFill>
            <a:srgbClr val="3B2080"/>
          </a:solidFill>
          <a:ln w="9525">
            <a:solidFill>
              <a:srgbClr val="FFFFFF">
                <a:alpha val="25000"/>
              </a:srgbClr>
            </a:solidFill>
            <a:prstDash val="solid"/>
          </a:ln>
        </p:spPr>
      </p:sp>
      <p:sp>
        <p:nvSpPr>
          <p:cNvPr id="24" name="Text 22"/>
          <p:cNvSpPr/>
          <p:nvPr/>
        </p:nvSpPr>
        <p:spPr>
          <a:xfrm>
            <a:off x="2881313" y="3657600"/>
            <a:ext cx="1566862" cy="40005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2100" dirty="0"/>
          </a:p>
        </p:txBody>
      </p:sp>
      <p:sp>
        <p:nvSpPr>
          <p:cNvPr id="25" name="Text 23"/>
          <p:cNvSpPr/>
          <p:nvPr/>
        </p:nvSpPr>
        <p:spPr>
          <a:xfrm>
            <a:off x="2881313" y="401955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Sync Status</a:t>
            </a:r>
            <a:endParaRPr lang="en-US" sz="1800" dirty="0"/>
          </a:p>
        </p:txBody>
      </p:sp>
      <p:sp>
        <p:nvSpPr>
          <p:cNvPr id="26" name="Shape 24"/>
          <p:cNvSpPr/>
          <p:nvPr/>
        </p:nvSpPr>
        <p:spPr>
          <a:xfrm>
            <a:off x="885825" y="4524375"/>
            <a:ext cx="3629025" cy="1362075"/>
          </a:xfrm>
          <a:prstGeom prst="roundRect">
            <a:avLst>
              <a:gd name="adj" fmla="val 5594"/>
            </a:avLst>
          </a:prstGeom>
          <a:solidFill>
            <a:srgbClr val="7C3AED">
              <a:alpha val="8000"/>
            </a:srgbClr>
          </a:solidFill>
          <a:ln w="9525">
            <a:solidFill>
              <a:srgbClr val="7C3AED">
                <a:alpha val="18000"/>
              </a:srgbClr>
            </a:solidFill>
            <a:prstDash val="solid"/>
          </a:ln>
        </p:spPr>
      </p:sp>
      <p:sp>
        <p:nvSpPr>
          <p:cNvPr id="27" name="Text 25"/>
          <p:cNvSpPr/>
          <p:nvPr/>
        </p:nvSpPr>
        <p:spPr>
          <a:xfrm>
            <a:off x="1028700" y="4648200"/>
            <a:ext cx="3443573" cy="31432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Quick Access</a:t>
            </a:r>
            <a:endParaRPr lang="en-US" sz="1800" dirty="0"/>
          </a:p>
        </p:txBody>
      </p:sp>
      <p:sp>
        <p:nvSpPr>
          <p:cNvPr id="28" name="Shape 26"/>
          <p:cNvSpPr/>
          <p:nvPr/>
        </p:nvSpPr>
        <p:spPr>
          <a:xfrm>
            <a:off x="1028700" y="4981575"/>
            <a:ext cx="1404045" cy="361950"/>
          </a:xfrm>
          <a:prstGeom prst="roundRect">
            <a:avLst>
              <a:gd name="adj" fmla="val 15789"/>
            </a:avLst>
          </a:prstGeom>
          <a:solidFill>
            <a:srgbClr val="FFFFFF">
              <a:alpha val="20000"/>
            </a:srgbClr>
          </a:solidFill>
          <a:ln w="9525">
            <a:solidFill>
              <a:srgbClr val="FFFFFF">
                <a:alpha val="35000"/>
              </a:srgbClr>
            </a:solidFill>
            <a:prstDash val="solid"/>
          </a:ln>
        </p:spPr>
      </p:sp>
      <p:sp>
        <p:nvSpPr>
          <p:cNvPr id="29" name="Text 27"/>
          <p:cNvSpPr/>
          <p:nvPr/>
        </p:nvSpPr>
        <p:spPr>
          <a:xfrm>
            <a:off x="1152525" y="5029200"/>
            <a:ext cx="1232595"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Companies</a:t>
            </a:r>
            <a:endParaRPr lang="en-US" sz="1800" dirty="0"/>
          </a:p>
        </p:txBody>
      </p:sp>
      <p:sp>
        <p:nvSpPr>
          <p:cNvPr id="30" name="Shape 28"/>
          <p:cNvSpPr/>
          <p:nvPr/>
        </p:nvSpPr>
        <p:spPr>
          <a:xfrm>
            <a:off x="2489895" y="4981575"/>
            <a:ext cx="844600" cy="361950"/>
          </a:xfrm>
          <a:prstGeom prst="roundRect">
            <a:avLst>
              <a:gd name="adj" fmla="val 15789"/>
            </a:avLst>
          </a:prstGeom>
          <a:solidFill>
            <a:srgbClr val="FFFFFF">
              <a:alpha val="20000"/>
            </a:srgbClr>
          </a:solidFill>
          <a:ln w="9525">
            <a:solidFill>
              <a:srgbClr val="FFFFFF">
                <a:alpha val="35000"/>
              </a:srgbClr>
            </a:solidFill>
            <a:prstDash val="solid"/>
          </a:ln>
        </p:spPr>
      </p:sp>
      <p:sp>
        <p:nvSpPr>
          <p:cNvPr id="31" name="Text 29"/>
          <p:cNvSpPr/>
          <p:nvPr/>
        </p:nvSpPr>
        <p:spPr>
          <a:xfrm>
            <a:off x="2613720" y="5029200"/>
            <a:ext cx="673150"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Users</a:t>
            </a:r>
            <a:endParaRPr lang="en-US" sz="1800" dirty="0"/>
          </a:p>
        </p:txBody>
      </p:sp>
      <p:sp>
        <p:nvSpPr>
          <p:cNvPr id="32" name="Shape 30"/>
          <p:cNvSpPr/>
          <p:nvPr/>
        </p:nvSpPr>
        <p:spPr>
          <a:xfrm>
            <a:off x="1028700" y="5400675"/>
            <a:ext cx="997297" cy="361950"/>
          </a:xfrm>
          <a:prstGeom prst="roundRect">
            <a:avLst>
              <a:gd name="adj" fmla="val 15789"/>
            </a:avLst>
          </a:prstGeom>
          <a:solidFill>
            <a:srgbClr val="FFFFFF">
              <a:alpha val="20000"/>
            </a:srgbClr>
          </a:solidFill>
          <a:ln w="9525">
            <a:solidFill>
              <a:srgbClr val="FFFFFF">
                <a:alpha val="35000"/>
              </a:srgbClr>
            </a:solidFill>
            <a:prstDash val="solid"/>
          </a:ln>
        </p:spPr>
      </p:sp>
      <p:sp>
        <p:nvSpPr>
          <p:cNvPr id="33" name="Text 31"/>
          <p:cNvSpPr/>
          <p:nvPr/>
        </p:nvSpPr>
        <p:spPr>
          <a:xfrm>
            <a:off x="1152525" y="5448300"/>
            <a:ext cx="825847"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Groups</a:t>
            </a:r>
            <a:endParaRPr lang="en-US" sz="1800" dirty="0"/>
          </a:p>
        </p:txBody>
      </p:sp>
      <p:sp>
        <p:nvSpPr>
          <p:cNvPr id="34" name="Shape 32"/>
          <p:cNvSpPr/>
          <p:nvPr/>
        </p:nvSpPr>
        <p:spPr>
          <a:xfrm>
            <a:off x="4981575" y="1533525"/>
            <a:ext cx="4029075" cy="885825"/>
          </a:xfrm>
          <a:prstGeom prst="roundRect">
            <a:avLst>
              <a:gd name="adj" fmla="val 12903"/>
            </a:avLst>
          </a:prstGeom>
          <a:solidFill>
            <a:srgbClr val="0A2460"/>
          </a:solidFill>
        </p:spPr>
      </p:sp>
      <p:sp>
        <p:nvSpPr>
          <p:cNvPr id="35" name="Shape 33"/>
          <p:cNvSpPr/>
          <p:nvPr/>
        </p:nvSpPr>
        <p:spPr>
          <a:xfrm>
            <a:off x="4981575" y="1533525"/>
            <a:ext cx="4029075" cy="9525"/>
          </a:xfrm>
          <a:prstGeom prst="rect">
            <a:avLst/>
          </a:prstGeom>
          <a:solidFill>
            <a:srgbClr val="3B82F6">
              <a:alpha val="35000"/>
            </a:srgbClr>
          </a:solidFill>
        </p:spPr>
      </p:sp>
      <p:sp>
        <p:nvSpPr>
          <p:cNvPr id="36" name="Shape 34"/>
          <p:cNvSpPr/>
          <p:nvPr/>
        </p:nvSpPr>
        <p:spPr>
          <a:xfrm>
            <a:off x="4981575" y="1533525"/>
            <a:ext cx="9525" cy="885825"/>
          </a:xfrm>
          <a:prstGeom prst="rect">
            <a:avLst/>
          </a:prstGeom>
          <a:solidFill>
            <a:srgbClr val="3B82F6">
              <a:alpha val="35000"/>
            </a:srgbClr>
          </a:solidFill>
        </p:spPr>
      </p:sp>
      <p:sp>
        <p:nvSpPr>
          <p:cNvPr id="37" name="Shape 35"/>
          <p:cNvSpPr/>
          <p:nvPr/>
        </p:nvSpPr>
        <p:spPr>
          <a:xfrm>
            <a:off x="9001125" y="1533525"/>
            <a:ext cx="9525" cy="885825"/>
          </a:xfrm>
          <a:prstGeom prst="rect">
            <a:avLst/>
          </a:prstGeom>
          <a:solidFill>
            <a:srgbClr val="3B82F6">
              <a:alpha val="35000"/>
            </a:srgbClr>
          </a:solidFill>
        </p:spPr>
      </p:sp>
      <p:sp>
        <p:nvSpPr>
          <p:cNvPr id="38" name="Text 36"/>
          <p:cNvSpPr/>
          <p:nvPr/>
        </p:nvSpPr>
        <p:spPr>
          <a:xfrm>
            <a:off x="5181600" y="1828800"/>
            <a:ext cx="390079" cy="3429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39" name="Text 37"/>
          <p:cNvSpPr/>
          <p:nvPr/>
        </p:nvSpPr>
        <p:spPr>
          <a:xfrm>
            <a:off x="5590729" y="1695450"/>
            <a:ext cx="2323058" cy="333375"/>
          </a:xfrm>
          <a:prstGeom prst="rect">
            <a:avLst/>
          </a:prstGeom>
          <a:noFill/>
        </p:spPr>
        <p:txBody>
          <a:bodyPr wrap="square" lIns="25400" tIns="25400" rIns="25400" bIns="25400" rtlCol="0" anchor="t">
            <a:normAutofit/>
          </a:bodyPr>
          <a:lstStyle/>
          <a:p>
            <a:pPr marL="0" indent="0" algn="l">
              <a:buNone/>
            </a:pPr>
            <a:r>
              <a:rPr lang="en-US" sz="1800" b="1" dirty="0">
                <a:solidFill>
                  <a:srgbClr val="F5F8FF"/>
                </a:solidFill>
                <a:latin typeface="Arial" panose="020B0604020202020204" pitchFamily="34" charset="0"/>
                <a:ea typeface="Arial" panose="020B0604020202020204" pitchFamily="34" charset="-122"/>
                <a:cs typeface="Arial" panose="020B0604020202020204" pitchFamily="34" charset="-120"/>
              </a:rPr>
              <a:t>Admin</a:t>
            </a:r>
            <a:endParaRPr lang="en-US" sz="1800" dirty="0"/>
          </a:p>
        </p:txBody>
      </p:sp>
      <p:sp>
        <p:nvSpPr>
          <p:cNvPr id="40" name="Text 38"/>
          <p:cNvSpPr/>
          <p:nvPr/>
        </p:nvSpPr>
        <p:spPr>
          <a:xfrm>
            <a:off x="5590729" y="1990725"/>
            <a:ext cx="2323058"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60A5FA"/>
                </a:solidFill>
                <a:latin typeface="Arial" panose="020B0604020202020204" pitchFamily="34" charset="0"/>
                <a:ea typeface="Arial" panose="020B0604020202020204" pitchFamily="34" charset="-122"/>
                <a:cs typeface="Arial" panose="020B0604020202020204" pitchFamily="34" charset="-120"/>
              </a:rPr>
              <a:t>Company Overview</a:t>
            </a:r>
            <a:endParaRPr lang="en-US" sz="1800" dirty="0"/>
          </a:p>
        </p:txBody>
      </p:sp>
      <p:sp>
        <p:nvSpPr>
          <p:cNvPr id="41" name="Shape 39"/>
          <p:cNvSpPr/>
          <p:nvPr/>
        </p:nvSpPr>
        <p:spPr>
          <a:xfrm>
            <a:off x="4981575" y="2419350"/>
            <a:ext cx="4029075" cy="7562850"/>
          </a:xfrm>
          <a:prstGeom prst="rect">
            <a:avLst/>
          </a:prstGeom>
          <a:solidFill>
            <a:srgbClr val="1A55B8"/>
          </a:solidFill>
          <a:ln w="9525">
            <a:solidFill>
              <a:srgbClr val="3B82F6">
                <a:alpha val="25000"/>
              </a:srgbClr>
            </a:solidFill>
            <a:prstDash val="solid"/>
          </a:ln>
        </p:spPr>
      </p:sp>
      <p:sp>
        <p:nvSpPr>
          <p:cNvPr id="42" name="Shape 40"/>
          <p:cNvSpPr/>
          <p:nvPr/>
        </p:nvSpPr>
        <p:spPr>
          <a:xfrm>
            <a:off x="5181600" y="2600325"/>
            <a:ext cx="1776413" cy="857250"/>
          </a:xfrm>
          <a:prstGeom prst="roundRect">
            <a:avLst>
              <a:gd name="adj" fmla="val 8889"/>
            </a:avLst>
          </a:prstGeom>
          <a:solidFill>
            <a:srgbClr val="1A55B8"/>
          </a:solidFill>
          <a:ln w="9525">
            <a:solidFill>
              <a:srgbClr val="FFFFFF">
                <a:alpha val="25000"/>
              </a:srgbClr>
            </a:solidFill>
            <a:prstDash val="solid"/>
          </a:ln>
        </p:spPr>
      </p:sp>
      <p:sp>
        <p:nvSpPr>
          <p:cNvPr id="43" name="Text 41"/>
          <p:cNvSpPr/>
          <p:nvPr/>
        </p:nvSpPr>
        <p:spPr>
          <a:xfrm>
            <a:off x="5324475" y="272415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84</a:t>
            </a:r>
            <a:endParaRPr lang="en-US" sz="2100" dirty="0"/>
          </a:p>
        </p:txBody>
      </p:sp>
      <p:sp>
        <p:nvSpPr>
          <p:cNvPr id="44" name="Text 42"/>
          <p:cNvSpPr/>
          <p:nvPr/>
        </p:nvSpPr>
        <p:spPr>
          <a:xfrm>
            <a:off x="5324475" y="306705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Customers</a:t>
            </a:r>
            <a:endParaRPr lang="en-US" sz="1800" dirty="0"/>
          </a:p>
        </p:txBody>
      </p:sp>
      <p:sp>
        <p:nvSpPr>
          <p:cNvPr id="45" name="Shape 43"/>
          <p:cNvSpPr/>
          <p:nvPr/>
        </p:nvSpPr>
        <p:spPr>
          <a:xfrm>
            <a:off x="7034213" y="2600325"/>
            <a:ext cx="1776413" cy="857250"/>
          </a:xfrm>
          <a:prstGeom prst="roundRect">
            <a:avLst>
              <a:gd name="adj" fmla="val 8889"/>
            </a:avLst>
          </a:prstGeom>
          <a:solidFill>
            <a:srgbClr val="1A55B8"/>
          </a:solidFill>
          <a:ln w="9525">
            <a:solidFill>
              <a:srgbClr val="FFFFFF">
                <a:alpha val="25000"/>
              </a:srgbClr>
            </a:solidFill>
            <a:prstDash val="solid"/>
          </a:ln>
        </p:spPr>
      </p:sp>
      <p:sp>
        <p:nvSpPr>
          <p:cNvPr id="46" name="Text 44"/>
          <p:cNvSpPr/>
          <p:nvPr/>
        </p:nvSpPr>
        <p:spPr>
          <a:xfrm>
            <a:off x="7177088" y="272415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26</a:t>
            </a:r>
            <a:endParaRPr lang="en-US" sz="2100" dirty="0"/>
          </a:p>
        </p:txBody>
      </p:sp>
      <p:sp>
        <p:nvSpPr>
          <p:cNvPr id="47" name="Text 45"/>
          <p:cNvSpPr/>
          <p:nvPr/>
        </p:nvSpPr>
        <p:spPr>
          <a:xfrm>
            <a:off x="7177088" y="306705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Employees</a:t>
            </a:r>
            <a:endParaRPr lang="en-US" sz="1800" dirty="0"/>
          </a:p>
        </p:txBody>
      </p:sp>
      <p:sp>
        <p:nvSpPr>
          <p:cNvPr id="48" name="Shape 46"/>
          <p:cNvSpPr/>
          <p:nvPr/>
        </p:nvSpPr>
        <p:spPr>
          <a:xfrm>
            <a:off x="5181600" y="3533775"/>
            <a:ext cx="1776413" cy="857250"/>
          </a:xfrm>
          <a:prstGeom prst="roundRect">
            <a:avLst>
              <a:gd name="adj" fmla="val 8889"/>
            </a:avLst>
          </a:prstGeom>
          <a:solidFill>
            <a:srgbClr val="1A55B8"/>
          </a:solidFill>
          <a:ln w="9525">
            <a:solidFill>
              <a:srgbClr val="FFFFFF">
                <a:alpha val="25000"/>
              </a:srgbClr>
            </a:solidFill>
            <a:prstDash val="solid"/>
          </a:ln>
        </p:spPr>
      </p:sp>
      <p:sp>
        <p:nvSpPr>
          <p:cNvPr id="49" name="Text 47"/>
          <p:cNvSpPr/>
          <p:nvPr/>
        </p:nvSpPr>
        <p:spPr>
          <a:xfrm>
            <a:off x="5324475" y="365760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112</a:t>
            </a:r>
            <a:endParaRPr lang="en-US" sz="2100" dirty="0"/>
          </a:p>
        </p:txBody>
      </p:sp>
      <p:sp>
        <p:nvSpPr>
          <p:cNvPr id="50" name="Text 48"/>
          <p:cNvSpPr/>
          <p:nvPr/>
        </p:nvSpPr>
        <p:spPr>
          <a:xfrm>
            <a:off x="5324475" y="400050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Subscriptions</a:t>
            </a:r>
            <a:endParaRPr lang="en-US" sz="1800" dirty="0"/>
          </a:p>
        </p:txBody>
      </p:sp>
      <p:sp>
        <p:nvSpPr>
          <p:cNvPr id="51" name="Shape 49"/>
          <p:cNvSpPr/>
          <p:nvPr/>
        </p:nvSpPr>
        <p:spPr>
          <a:xfrm>
            <a:off x="7034213" y="3533775"/>
            <a:ext cx="1776413" cy="857250"/>
          </a:xfrm>
          <a:prstGeom prst="roundRect">
            <a:avLst>
              <a:gd name="adj" fmla="val 8889"/>
            </a:avLst>
          </a:prstGeom>
          <a:solidFill>
            <a:srgbClr val="1A55B8"/>
          </a:solidFill>
          <a:ln w="9525">
            <a:solidFill>
              <a:srgbClr val="FFFFFF">
                <a:alpha val="25000"/>
              </a:srgbClr>
            </a:solidFill>
            <a:prstDash val="solid"/>
          </a:ln>
        </p:spPr>
      </p:sp>
      <p:sp>
        <p:nvSpPr>
          <p:cNvPr id="52" name="Text 50"/>
          <p:cNvSpPr/>
          <p:nvPr/>
        </p:nvSpPr>
        <p:spPr>
          <a:xfrm>
            <a:off x="7177088" y="3657600"/>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2100" dirty="0"/>
          </a:p>
        </p:txBody>
      </p:sp>
      <p:sp>
        <p:nvSpPr>
          <p:cNvPr id="53" name="Text 51"/>
          <p:cNvSpPr/>
          <p:nvPr/>
        </p:nvSpPr>
        <p:spPr>
          <a:xfrm>
            <a:off x="7177088" y="4000500"/>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54" name="Shape 52"/>
          <p:cNvSpPr/>
          <p:nvPr/>
        </p:nvSpPr>
        <p:spPr>
          <a:xfrm>
            <a:off x="5181600" y="4505325"/>
            <a:ext cx="3629025" cy="1362075"/>
          </a:xfrm>
          <a:prstGeom prst="roundRect">
            <a:avLst>
              <a:gd name="adj" fmla="val 5594"/>
            </a:avLst>
          </a:prstGeom>
          <a:solidFill>
            <a:srgbClr val="2563EB">
              <a:alpha val="8000"/>
            </a:srgbClr>
          </a:solidFill>
          <a:ln w="9525">
            <a:solidFill>
              <a:srgbClr val="3B82F6">
                <a:alpha val="18000"/>
              </a:srgbClr>
            </a:solidFill>
            <a:prstDash val="solid"/>
          </a:ln>
        </p:spPr>
      </p:sp>
      <p:sp>
        <p:nvSpPr>
          <p:cNvPr id="55" name="Text 53"/>
          <p:cNvSpPr/>
          <p:nvPr/>
        </p:nvSpPr>
        <p:spPr>
          <a:xfrm>
            <a:off x="5324475" y="4629150"/>
            <a:ext cx="3443573" cy="31432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Quick Access</a:t>
            </a:r>
            <a:endParaRPr lang="en-US" sz="1800" dirty="0"/>
          </a:p>
        </p:txBody>
      </p:sp>
      <p:sp>
        <p:nvSpPr>
          <p:cNvPr id="56" name="Shape 54"/>
          <p:cNvSpPr/>
          <p:nvPr/>
        </p:nvSpPr>
        <p:spPr>
          <a:xfrm>
            <a:off x="5324475" y="4962525"/>
            <a:ext cx="1352848" cy="361950"/>
          </a:xfrm>
          <a:prstGeom prst="roundRect">
            <a:avLst>
              <a:gd name="adj" fmla="val 15789"/>
            </a:avLst>
          </a:prstGeom>
          <a:solidFill>
            <a:srgbClr val="FFFFFF">
              <a:alpha val="20000"/>
            </a:srgbClr>
          </a:solidFill>
          <a:ln w="9525">
            <a:solidFill>
              <a:srgbClr val="FFFFFF">
                <a:alpha val="35000"/>
              </a:srgbClr>
            </a:solidFill>
            <a:prstDash val="solid"/>
          </a:ln>
        </p:spPr>
      </p:sp>
      <p:sp>
        <p:nvSpPr>
          <p:cNvPr id="57" name="Text 55"/>
          <p:cNvSpPr/>
          <p:nvPr/>
        </p:nvSpPr>
        <p:spPr>
          <a:xfrm>
            <a:off x="5448300" y="5010150"/>
            <a:ext cx="1181398"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Customers</a:t>
            </a:r>
            <a:endParaRPr lang="en-US" sz="1800" dirty="0"/>
          </a:p>
        </p:txBody>
      </p:sp>
      <p:sp>
        <p:nvSpPr>
          <p:cNvPr id="58" name="Shape 56"/>
          <p:cNvSpPr/>
          <p:nvPr/>
        </p:nvSpPr>
        <p:spPr>
          <a:xfrm>
            <a:off x="6734473" y="4962525"/>
            <a:ext cx="1454944" cy="361950"/>
          </a:xfrm>
          <a:prstGeom prst="roundRect">
            <a:avLst>
              <a:gd name="adj" fmla="val 15789"/>
            </a:avLst>
          </a:prstGeom>
          <a:solidFill>
            <a:srgbClr val="FFFFFF">
              <a:alpha val="20000"/>
            </a:srgbClr>
          </a:solidFill>
          <a:ln w="9525">
            <a:solidFill>
              <a:srgbClr val="FFFFFF">
                <a:alpha val="35000"/>
              </a:srgbClr>
            </a:solidFill>
            <a:prstDash val="solid"/>
          </a:ln>
        </p:spPr>
      </p:sp>
      <p:sp>
        <p:nvSpPr>
          <p:cNvPr id="59" name="Text 57"/>
          <p:cNvSpPr/>
          <p:nvPr/>
        </p:nvSpPr>
        <p:spPr>
          <a:xfrm>
            <a:off x="6858298" y="5010150"/>
            <a:ext cx="1283494"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Regulations</a:t>
            </a:r>
            <a:endParaRPr lang="en-US" sz="1800" dirty="0"/>
          </a:p>
        </p:txBody>
      </p:sp>
      <p:sp>
        <p:nvSpPr>
          <p:cNvPr id="60" name="Shape 58"/>
          <p:cNvSpPr/>
          <p:nvPr/>
        </p:nvSpPr>
        <p:spPr>
          <a:xfrm>
            <a:off x="5324475" y="5381625"/>
            <a:ext cx="1492895" cy="361950"/>
          </a:xfrm>
          <a:prstGeom prst="roundRect">
            <a:avLst>
              <a:gd name="adj" fmla="val 15789"/>
            </a:avLst>
          </a:prstGeom>
          <a:solidFill>
            <a:srgbClr val="FFFFFF">
              <a:alpha val="20000"/>
            </a:srgbClr>
          </a:solidFill>
          <a:ln w="9525">
            <a:solidFill>
              <a:srgbClr val="FFFFFF">
                <a:alpha val="35000"/>
              </a:srgbClr>
            </a:solidFill>
            <a:prstDash val="solid"/>
          </a:ln>
        </p:spPr>
      </p:sp>
      <p:sp>
        <p:nvSpPr>
          <p:cNvPr id="61" name="Text 59"/>
          <p:cNvSpPr/>
          <p:nvPr/>
        </p:nvSpPr>
        <p:spPr>
          <a:xfrm>
            <a:off x="5448300" y="5429250"/>
            <a:ext cx="1321445"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Notifications</a:t>
            </a:r>
            <a:endParaRPr lang="en-US" sz="1800" dirty="0"/>
          </a:p>
        </p:txBody>
      </p:sp>
      <p:sp>
        <p:nvSpPr>
          <p:cNvPr id="62" name="Shape 60"/>
          <p:cNvSpPr/>
          <p:nvPr/>
        </p:nvSpPr>
        <p:spPr>
          <a:xfrm>
            <a:off x="9277350" y="1533525"/>
            <a:ext cx="4029075" cy="885825"/>
          </a:xfrm>
          <a:prstGeom prst="roundRect">
            <a:avLst>
              <a:gd name="adj" fmla="val 12903"/>
            </a:avLst>
          </a:prstGeom>
          <a:solidFill>
            <a:srgbClr val="0A4A38"/>
          </a:solidFill>
        </p:spPr>
      </p:sp>
      <p:sp>
        <p:nvSpPr>
          <p:cNvPr id="63" name="Shape 61"/>
          <p:cNvSpPr/>
          <p:nvPr/>
        </p:nvSpPr>
        <p:spPr>
          <a:xfrm>
            <a:off x="9277350" y="1533525"/>
            <a:ext cx="4029075" cy="9525"/>
          </a:xfrm>
          <a:prstGeom prst="rect">
            <a:avLst/>
          </a:prstGeom>
          <a:solidFill>
            <a:srgbClr val="34D399">
              <a:alpha val="30000"/>
            </a:srgbClr>
          </a:solidFill>
        </p:spPr>
      </p:sp>
      <p:sp>
        <p:nvSpPr>
          <p:cNvPr id="64" name="Shape 62"/>
          <p:cNvSpPr/>
          <p:nvPr/>
        </p:nvSpPr>
        <p:spPr>
          <a:xfrm>
            <a:off x="9277350" y="1533525"/>
            <a:ext cx="9525" cy="885825"/>
          </a:xfrm>
          <a:prstGeom prst="rect">
            <a:avLst/>
          </a:prstGeom>
          <a:solidFill>
            <a:srgbClr val="34D399">
              <a:alpha val="30000"/>
            </a:srgbClr>
          </a:solidFill>
        </p:spPr>
      </p:sp>
      <p:sp>
        <p:nvSpPr>
          <p:cNvPr id="65" name="Shape 63"/>
          <p:cNvSpPr/>
          <p:nvPr/>
        </p:nvSpPr>
        <p:spPr>
          <a:xfrm>
            <a:off x="13296900" y="1533525"/>
            <a:ext cx="9525" cy="885825"/>
          </a:xfrm>
          <a:prstGeom prst="rect">
            <a:avLst/>
          </a:prstGeom>
          <a:solidFill>
            <a:srgbClr val="34D399">
              <a:alpha val="30000"/>
            </a:srgbClr>
          </a:solidFill>
        </p:spPr>
      </p:sp>
      <p:sp>
        <p:nvSpPr>
          <p:cNvPr id="66" name="Text 64"/>
          <p:cNvSpPr/>
          <p:nvPr/>
        </p:nvSpPr>
        <p:spPr>
          <a:xfrm>
            <a:off x="9477375" y="1828800"/>
            <a:ext cx="390079" cy="3429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67" name="Text 65"/>
          <p:cNvSpPr/>
          <p:nvPr/>
        </p:nvSpPr>
        <p:spPr>
          <a:xfrm>
            <a:off x="9886504" y="1695450"/>
            <a:ext cx="2234952" cy="333375"/>
          </a:xfrm>
          <a:prstGeom prst="rect">
            <a:avLst/>
          </a:prstGeom>
          <a:noFill/>
        </p:spPr>
        <p:txBody>
          <a:bodyPr wrap="square" lIns="25400" tIns="25400" rIns="25400" bIns="25400" rtlCol="0" anchor="t">
            <a:normAutofit/>
          </a:bodyPr>
          <a:lstStyle/>
          <a:p>
            <a:pPr marL="0" indent="0" algn="l">
              <a:buNone/>
            </a:pPr>
            <a:r>
              <a:rPr lang="en-US" sz="1800" b="1" dirty="0">
                <a:solidFill>
                  <a:srgbClr val="F5F8FF"/>
                </a:solidFill>
                <a:latin typeface="Arial" panose="020B0604020202020204" pitchFamily="34" charset="0"/>
                <a:ea typeface="Arial" panose="020B0604020202020204" pitchFamily="34" charset="-122"/>
                <a:cs typeface="Arial" panose="020B0604020202020204" pitchFamily="34" charset="-120"/>
              </a:rPr>
              <a:t>Customer</a:t>
            </a:r>
            <a:endParaRPr lang="en-US" sz="1800" dirty="0"/>
          </a:p>
        </p:txBody>
      </p:sp>
      <p:sp>
        <p:nvSpPr>
          <p:cNvPr id="68" name="Text 66"/>
          <p:cNvSpPr/>
          <p:nvPr/>
        </p:nvSpPr>
        <p:spPr>
          <a:xfrm>
            <a:off x="9886504" y="1990725"/>
            <a:ext cx="2234952"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34D399"/>
                </a:solidFill>
                <a:latin typeface="Arial" panose="020B0604020202020204" pitchFamily="34" charset="0"/>
                <a:ea typeface="Arial" panose="020B0604020202020204" pitchFamily="34" charset="-122"/>
                <a:cs typeface="Arial" panose="020B0604020202020204" pitchFamily="34" charset="-120"/>
              </a:rPr>
              <a:t>Personal Overview</a:t>
            </a:r>
            <a:endParaRPr lang="en-US" sz="1800" dirty="0"/>
          </a:p>
        </p:txBody>
      </p:sp>
      <p:sp>
        <p:nvSpPr>
          <p:cNvPr id="69" name="Shape 67"/>
          <p:cNvSpPr/>
          <p:nvPr/>
        </p:nvSpPr>
        <p:spPr>
          <a:xfrm>
            <a:off x="9277350" y="2419350"/>
            <a:ext cx="4029075" cy="7562850"/>
          </a:xfrm>
          <a:prstGeom prst="rect">
            <a:avLst/>
          </a:prstGeom>
          <a:solidFill>
            <a:srgbClr val="1A55B8"/>
          </a:solidFill>
          <a:ln w="9525">
            <a:solidFill>
              <a:srgbClr val="34D399">
                <a:alpha val="20000"/>
              </a:srgbClr>
            </a:solidFill>
            <a:prstDash val="solid"/>
          </a:ln>
        </p:spPr>
      </p:sp>
      <p:sp>
        <p:nvSpPr>
          <p:cNvPr id="70" name="Shape 68"/>
          <p:cNvSpPr/>
          <p:nvPr/>
        </p:nvSpPr>
        <p:spPr>
          <a:xfrm>
            <a:off x="9477375" y="2600325"/>
            <a:ext cx="3629025" cy="847725"/>
          </a:xfrm>
          <a:prstGeom prst="roundRect">
            <a:avLst>
              <a:gd name="adj" fmla="val 8989"/>
            </a:avLst>
          </a:prstGeom>
          <a:solidFill>
            <a:srgbClr val="0D5A45"/>
          </a:solidFill>
          <a:ln w="9525">
            <a:solidFill>
              <a:srgbClr val="FFFFFF">
                <a:alpha val="25000"/>
              </a:srgbClr>
            </a:solidFill>
            <a:prstDash val="solid"/>
          </a:ln>
        </p:spPr>
      </p:sp>
      <p:sp>
        <p:nvSpPr>
          <p:cNvPr id="71" name="Shape 69"/>
          <p:cNvSpPr/>
          <p:nvPr/>
        </p:nvSpPr>
        <p:spPr>
          <a:xfrm>
            <a:off x="9639300" y="2814638"/>
            <a:ext cx="419100" cy="419100"/>
          </a:xfrm>
          <a:prstGeom prst="ellipse">
            <a:avLst/>
          </a:prstGeom>
          <a:solidFill>
            <a:srgbClr val="34D399">
              <a:alpha val="20000"/>
            </a:srgbClr>
          </a:solidFill>
        </p:spPr>
      </p:sp>
      <p:sp>
        <p:nvSpPr>
          <p:cNvPr id="72" name="Text 70"/>
          <p:cNvSpPr/>
          <p:nvPr/>
        </p:nvSpPr>
        <p:spPr>
          <a:xfrm>
            <a:off x="9601200" y="2814638"/>
            <a:ext cx="495300" cy="457200"/>
          </a:xfrm>
          <a:prstGeom prst="rect">
            <a:avLst/>
          </a:prstGeom>
          <a:noFill/>
        </p:spPr>
        <p:txBody>
          <a:bodyPr wrap="square" lIns="25400" tIns="25400" rIns="25400" bIns="25400" rtlCol="0" anchor="ctr">
            <a:normAutofit/>
          </a:bodyPr>
          <a:lstStyle/>
          <a:p>
            <a:pPr marL="0" indent="0" algn="ctr">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73" name="Text 71"/>
          <p:cNvSpPr/>
          <p:nvPr/>
        </p:nvSpPr>
        <p:spPr>
          <a:xfrm>
            <a:off x="10191750" y="2743200"/>
            <a:ext cx="246504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5F8FF"/>
                </a:solidFill>
                <a:latin typeface="Arial" panose="020B0604020202020204" pitchFamily="34" charset="0"/>
                <a:ea typeface="Arial" panose="020B0604020202020204" pitchFamily="34" charset="-122"/>
                <a:cs typeface="Arial" panose="020B0604020202020204" pitchFamily="34" charset="-120"/>
              </a:rPr>
              <a:t>Account Info</a:t>
            </a:r>
            <a:endParaRPr lang="en-US" sz="1800" dirty="0"/>
          </a:p>
        </p:txBody>
      </p:sp>
      <p:sp>
        <p:nvSpPr>
          <p:cNvPr id="74" name="Text 72"/>
          <p:cNvSpPr/>
          <p:nvPr/>
        </p:nvSpPr>
        <p:spPr>
          <a:xfrm>
            <a:off x="10191750" y="3038475"/>
            <a:ext cx="2465040"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Profile &amp; contact details</a:t>
            </a:r>
            <a:endParaRPr lang="en-US" sz="1800" dirty="0"/>
          </a:p>
        </p:txBody>
      </p:sp>
      <p:sp>
        <p:nvSpPr>
          <p:cNvPr id="75" name="Shape 73"/>
          <p:cNvSpPr/>
          <p:nvPr/>
        </p:nvSpPr>
        <p:spPr>
          <a:xfrm>
            <a:off x="9477375" y="3562350"/>
            <a:ext cx="1776413" cy="1123950"/>
          </a:xfrm>
          <a:prstGeom prst="roundRect">
            <a:avLst>
              <a:gd name="adj" fmla="val 6780"/>
            </a:avLst>
          </a:prstGeom>
          <a:solidFill>
            <a:srgbClr val="0A4A38"/>
          </a:solidFill>
          <a:ln w="9525">
            <a:solidFill>
              <a:srgbClr val="FFFFFF">
                <a:alpha val="25000"/>
              </a:srgbClr>
            </a:solidFill>
            <a:prstDash val="solid"/>
          </a:ln>
        </p:spPr>
      </p:sp>
      <p:sp>
        <p:nvSpPr>
          <p:cNvPr id="76" name="Text 74"/>
          <p:cNvSpPr/>
          <p:nvPr/>
        </p:nvSpPr>
        <p:spPr>
          <a:xfrm>
            <a:off x="9620250" y="3686175"/>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34D399"/>
                </a:solidFill>
                <a:latin typeface="Arial" panose="020B0604020202020204" pitchFamily="34" charset="0"/>
                <a:ea typeface="Arial" panose="020B0604020202020204" pitchFamily="34" charset="-122"/>
                <a:cs typeface="Arial" panose="020B0604020202020204" pitchFamily="34" charset="-120"/>
              </a:rPr>
              <a:t>7</a:t>
            </a:r>
            <a:endParaRPr lang="en-US" sz="2100" dirty="0"/>
          </a:p>
        </p:txBody>
      </p:sp>
      <p:sp>
        <p:nvSpPr>
          <p:cNvPr id="77" name="Text 75"/>
          <p:cNvSpPr/>
          <p:nvPr/>
        </p:nvSpPr>
        <p:spPr>
          <a:xfrm>
            <a:off x="9620250" y="4029075"/>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Subscriptions</a:t>
            </a:r>
            <a:endParaRPr lang="en-US" sz="1800" dirty="0"/>
          </a:p>
        </p:txBody>
      </p:sp>
      <p:sp>
        <p:nvSpPr>
          <p:cNvPr id="78" name="Shape 76"/>
          <p:cNvSpPr/>
          <p:nvPr/>
        </p:nvSpPr>
        <p:spPr>
          <a:xfrm>
            <a:off x="11329988" y="3562350"/>
            <a:ext cx="1776413" cy="1123950"/>
          </a:xfrm>
          <a:prstGeom prst="roundRect">
            <a:avLst>
              <a:gd name="adj" fmla="val 6780"/>
            </a:avLst>
          </a:prstGeom>
          <a:solidFill>
            <a:srgbClr val="0A4A38"/>
          </a:solidFill>
          <a:ln w="9525">
            <a:solidFill>
              <a:srgbClr val="FFFFFF">
                <a:alpha val="25000"/>
              </a:srgbClr>
            </a:solidFill>
            <a:prstDash val="solid"/>
          </a:ln>
        </p:spPr>
      </p:sp>
      <p:sp>
        <p:nvSpPr>
          <p:cNvPr id="79" name="Text 77"/>
          <p:cNvSpPr/>
          <p:nvPr/>
        </p:nvSpPr>
        <p:spPr>
          <a:xfrm>
            <a:off x="11472863" y="3686175"/>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34D399"/>
                </a:solidFill>
                <a:latin typeface="Arial" panose="020B0604020202020204" pitchFamily="34" charset="0"/>
                <a:ea typeface="Arial" panose="020B0604020202020204" pitchFamily="34" charset="-122"/>
                <a:cs typeface="Arial" panose="020B0604020202020204" pitchFamily="34" charset="-120"/>
              </a:rPr>
              <a:t>3</a:t>
            </a:r>
            <a:endParaRPr lang="en-US" sz="2100" dirty="0"/>
          </a:p>
        </p:txBody>
      </p:sp>
      <p:sp>
        <p:nvSpPr>
          <p:cNvPr id="80" name="Text 78"/>
          <p:cNvSpPr/>
          <p:nvPr/>
        </p:nvSpPr>
        <p:spPr>
          <a:xfrm>
            <a:off x="11472863" y="4029075"/>
            <a:ext cx="1566862" cy="5715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Change Notices</a:t>
            </a:r>
            <a:endParaRPr lang="en-US" sz="1800" dirty="0"/>
          </a:p>
        </p:txBody>
      </p:sp>
      <p:sp>
        <p:nvSpPr>
          <p:cNvPr id="81" name="Shape 79"/>
          <p:cNvSpPr/>
          <p:nvPr/>
        </p:nvSpPr>
        <p:spPr>
          <a:xfrm>
            <a:off x="13573125" y="1533525"/>
            <a:ext cx="4029075" cy="885825"/>
          </a:xfrm>
          <a:prstGeom prst="roundRect">
            <a:avLst>
              <a:gd name="adj" fmla="val 12903"/>
            </a:avLst>
          </a:prstGeom>
          <a:solidFill>
            <a:srgbClr val="4A3000"/>
          </a:solidFill>
        </p:spPr>
      </p:sp>
      <p:sp>
        <p:nvSpPr>
          <p:cNvPr id="82" name="Shape 80"/>
          <p:cNvSpPr/>
          <p:nvPr/>
        </p:nvSpPr>
        <p:spPr>
          <a:xfrm>
            <a:off x="13573125" y="1533525"/>
            <a:ext cx="4029075" cy="9525"/>
          </a:xfrm>
          <a:prstGeom prst="rect">
            <a:avLst/>
          </a:prstGeom>
          <a:solidFill>
            <a:srgbClr val="FCD34D">
              <a:alpha val="28000"/>
            </a:srgbClr>
          </a:solidFill>
        </p:spPr>
      </p:sp>
      <p:sp>
        <p:nvSpPr>
          <p:cNvPr id="83" name="Shape 81"/>
          <p:cNvSpPr/>
          <p:nvPr/>
        </p:nvSpPr>
        <p:spPr>
          <a:xfrm>
            <a:off x="13573125" y="1533525"/>
            <a:ext cx="9525" cy="885825"/>
          </a:xfrm>
          <a:prstGeom prst="rect">
            <a:avLst/>
          </a:prstGeom>
          <a:solidFill>
            <a:srgbClr val="FCD34D">
              <a:alpha val="28000"/>
            </a:srgbClr>
          </a:solidFill>
        </p:spPr>
      </p:sp>
      <p:sp>
        <p:nvSpPr>
          <p:cNvPr id="84" name="Shape 82"/>
          <p:cNvSpPr/>
          <p:nvPr/>
        </p:nvSpPr>
        <p:spPr>
          <a:xfrm>
            <a:off x="17592675" y="1533525"/>
            <a:ext cx="9525" cy="885825"/>
          </a:xfrm>
          <a:prstGeom prst="rect">
            <a:avLst/>
          </a:prstGeom>
          <a:solidFill>
            <a:srgbClr val="FCD34D">
              <a:alpha val="28000"/>
            </a:srgbClr>
          </a:solidFill>
        </p:spPr>
      </p:sp>
      <p:sp>
        <p:nvSpPr>
          <p:cNvPr id="85" name="Text 83"/>
          <p:cNvSpPr/>
          <p:nvPr/>
        </p:nvSpPr>
        <p:spPr>
          <a:xfrm>
            <a:off x="13773150" y="1828800"/>
            <a:ext cx="390079" cy="3429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86" name="Text 84"/>
          <p:cNvSpPr/>
          <p:nvPr/>
        </p:nvSpPr>
        <p:spPr>
          <a:xfrm>
            <a:off x="14182279" y="1695450"/>
            <a:ext cx="183386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5F8FF"/>
                </a:solidFill>
                <a:latin typeface="Arial" panose="020B0604020202020204" pitchFamily="34" charset="0"/>
                <a:ea typeface="Arial" panose="020B0604020202020204" pitchFamily="34" charset="-122"/>
                <a:cs typeface="Arial" panose="020B0604020202020204" pitchFamily="34" charset="-120"/>
              </a:rPr>
              <a:t>Employee</a:t>
            </a:r>
            <a:endParaRPr lang="en-US" sz="1800" dirty="0"/>
          </a:p>
        </p:txBody>
      </p:sp>
      <p:sp>
        <p:nvSpPr>
          <p:cNvPr id="87" name="Text 85"/>
          <p:cNvSpPr/>
          <p:nvPr/>
        </p:nvSpPr>
        <p:spPr>
          <a:xfrm>
            <a:off x="14182279" y="1990725"/>
            <a:ext cx="1833860"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FCD34D"/>
                </a:solidFill>
                <a:latin typeface="Arial" panose="020B0604020202020204" pitchFamily="34" charset="0"/>
                <a:ea typeface="Arial" panose="020B0604020202020204" pitchFamily="34" charset="-122"/>
                <a:cs typeface="Arial" panose="020B0604020202020204" pitchFamily="34" charset="-120"/>
              </a:rPr>
              <a:t>Work Overview</a:t>
            </a:r>
            <a:endParaRPr lang="en-US" sz="1800" dirty="0"/>
          </a:p>
        </p:txBody>
      </p:sp>
      <p:sp>
        <p:nvSpPr>
          <p:cNvPr id="88" name="Shape 86"/>
          <p:cNvSpPr/>
          <p:nvPr/>
        </p:nvSpPr>
        <p:spPr>
          <a:xfrm>
            <a:off x="13573125" y="2419350"/>
            <a:ext cx="4029075" cy="7562850"/>
          </a:xfrm>
          <a:prstGeom prst="rect">
            <a:avLst/>
          </a:prstGeom>
          <a:solidFill>
            <a:srgbClr val="1A55B8"/>
          </a:solidFill>
          <a:ln w="9525">
            <a:solidFill>
              <a:srgbClr val="FCD34D">
                <a:alpha val="20000"/>
              </a:srgbClr>
            </a:solidFill>
            <a:prstDash val="solid"/>
          </a:ln>
        </p:spPr>
      </p:sp>
      <p:sp>
        <p:nvSpPr>
          <p:cNvPr id="89" name="Shape 87"/>
          <p:cNvSpPr/>
          <p:nvPr/>
        </p:nvSpPr>
        <p:spPr>
          <a:xfrm>
            <a:off x="13773150" y="2600325"/>
            <a:ext cx="3629025" cy="847725"/>
          </a:xfrm>
          <a:prstGeom prst="roundRect">
            <a:avLst>
              <a:gd name="adj" fmla="val 8989"/>
            </a:avLst>
          </a:prstGeom>
          <a:solidFill>
            <a:srgbClr val="5A3A00"/>
          </a:solidFill>
          <a:ln w="9525">
            <a:solidFill>
              <a:srgbClr val="FFFFFF">
                <a:alpha val="25000"/>
              </a:srgbClr>
            </a:solidFill>
            <a:prstDash val="solid"/>
          </a:ln>
        </p:spPr>
      </p:sp>
      <p:sp>
        <p:nvSpPr>
          <p:cNvPr id="90" name="Shape 88"/>
          <p:cNvSpPr/>
          <p:nvPr/>
        </p:nvSpPr>
        <p:spPr>
          <a:xfrm>
            <a:off x="13935075" y="2814638"/>
            <a:ext cx="419100" cy="419100"/>
          </a:xfrm>
          <a:prstGeom prst="ellipse">
            <a:avLst/>
          </a:prstGeom>
          <a:solidFill>
            <a:srgbClr val="FCD34D">
              <a:alpha val="15000"/>
            </a:srgbClr>
          </a:solidFill>
        </p:spPr>
      </p:sp>
      <p:sp>
        <p:nvSpPr>
          <p:cNvPr id="91" name="Text 89"/>
          <p:cNvSpPr/>
          <p:nvPr/>
        </p:nvSpPr>
        <p:spPr>
          <a:xfrm>
            <a:off x="13896975" y="2814638"/>
            <a:ext cx="495300" cy="457200"/>
          </a:xfrm>
          <a:prstGeom prst="rect">
            <a:avLst/>
          </a:prstGeom>
          <a:noFill/>
        </p:spPr>
        <p:txBody>
          <a:bodyPr wrap="square" lIns="25400" tIns="25400" rIns="25400" bIns="25400" rtlCol="0" anchor="ctr">
            <a:normAutofit/>
          </a:bodyPr>
          <a:lstStyle/>
          <a:p>
            <a:pPr marL="0" indent="0" algn="ctr">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800" dirty="0"/>
          </a:p>
        </p:txBody>
      </p:sp>
      <p:sp>
        <p:nvSpPr>
          <p:cNvPr id="92" name="Text 90"/>
          <p:cNvSpPr/>
          <p:nvPr/>
        </p:nvSpPr>
        <p:spPr>
          <a:xfrm>
            <a:off x="14487525" y="2743200"/>
            <a:ext cx="2464147" cy="333375"/>
          </a:xfrm>
          <a:prstGeom prst="rect">
            <a:avLst/>
          </a:prstGeom>
          <a:noFill/>
        </p:spPr>
        <p:txBody>
          <a:bodyPr wrap="square" lIns="25400" tIns="25400" rIns="25400" bIns="25400" rtlCol="0" anchor="t">
            <a:normAutofit/>
          </a:bodyPr>
          <a:lstStyle/>
          <a:p>
            <a:pPr marL="0" indent="0" algn="l">
              <a:buNone/>
            </a:pPr>
            <a:r>
              <a:rPr lang="en-US" sz="1800" b="1" dirty="0">
                <a:solidFill>
                  <a:srgbClr val="F5F8FF"/>
                </a:solidFill>
                <a:latin typeface="Arial" panose="020B0604020202020204" pitchFamily="34" charset="0"/>
                <a:ea typeface="Arial" panose="020B0604020202020204" pitchFamily="34" charset="-122"/>
                <a:cs typeface="Arial" panose="020B0604020202020204" pitchFamily="34" charset="-120"/>
              </a:rPr>
              <a:t>Employee Profile</a:t>
            </a:r>
            <a:endParaRPr lang="en-US" sz="1800" dirty="0"/>
          </a:p>
        </p:txBody>
      </p:sp>
      <p:sp>
        <p:nvSpPr>
          <p:cNvPr id="93" name="Text 91"/>
          <p:cNvSpPr/>
          <p:nvPr/>
        </p:nvSpPr>
        <p:spPr>
          <a:xfrm>
            <a:off x="14487525" y="3038475"/>
            <a:ext cx="2464147"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Dept · Division · District</a:t>
            </a:r>
            <a:endParaRPr lang="en-US" sz="1800" dirty="0"/>
          </a:p>
        </p:txBody>
      </p:sp>
      <p:sp>
        <p:nvSpPr>
          <p:cNvPr id="94" name="Shape 92"/>
          <p:cNvSpPr/>
          <p:nvPr/>
        </p:nvSpPr>
        <p:spPr>
          <a:xfrm>
            <a:off x="13773150" y="3562350"/>
            <a:ext cx="1776413" cy="1123950"/>
          </a:xfrm>
          <a:prstGeom prst="roundRect">
            <a:avLst>
              <a:gd name="adj" fmla="val 6780"/>
            </a:avLst>
          </a:prstGeom>
          <a:solidFill>
            <a:srgbClr val="4A3000"/>
          </a:solidFill>
          <a:ln w="9525">
            <a:solidFill>
              <a:srgbClr val="FFFFFF">
                <a:alpha val="25000"/>
              </a:srgbClr>
            </a:solidFill>
            <a:prstDash val="solid"/>
          </a:ln>
        </p:spPr>
      </p:sp>
      <p:sp>
        <p:nvSpPr>
          <p:cNvPr id="95" name="Text 93"/>
          <p:cNvSpPr/>
          <p:nvPr/>
        </p:nvSpPr>
        <p:spPr>
          <a:xfrm>
            <a:off x="13916025" y="3686175"/>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CD34D"/>
                </a:solidFill>
                <a:latin typeface="Arial" panose="020B0604020202020204" pitchFamily="34" charset="0"/>
                <a:ea typeface="Arial" panose="020B0604020202020204" pitchFamily="34" charset="-122"/>
                <a:cs typeface="Arial" panose="020B0604020202020204" pitchFamily="34" charset="-120"/>
              </a:rPr>
              <a:t>5</a:t>
            </a:r>
            <a:endParaRPr lang="en-US" sz="2100" dirty="0"/>
          </a:p>
        </p:txBody>
      </p:sp>
      <p:sp>
        <p:nvSpPr>
          <p:cNvPr id="96" name="Text 94"/>
          <p:cNvSpPr/>
          <p:nvPr/>
        </p:nvSpPr>
        <p:spPr>
          <a:xfrm>
            <a:off x="13916025" y="4029075"/>
            <a:ext cx="1566862"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Assignments</a:t>
            </a:r>
            <a:endParaRPr lang="en-US" sz="1800" dirty="0"/>
          </a:p>
        </p:txBody>
      </p:sp>
      <p:sp>
        <p:nvSpPr>
          <p:cNvPr id="97" name="Shape 95"/>
          <p:cNvSpPr/>
          <p:nvPr/>
        </p:nvSpPr>
        <p:spPr>
          <a:xfrm>
            <a:off x="15625763" y="3562350"/>
            <a:ext cx="1776413" cy="1123950"/>
          </a:xfrm>
          <a:prstGeom prst="roundRect">
            <a:avLst>
              <a:gd name="adj" fmla="val 6780"/>
            </a:avLst>
          </a:prstGeom>
          <a:solidFill>
            <a:srgbClr val="4A3000"/>
          </a:solidFill>
          <a:ln w="9525">
            <a:solidFill>
              <a:srgbClr val="FFFFFF">
                <a:alpha val="25000"/>
              </a:srgbClr>
            </a:solidFill>
            <a:prstDash val="solid"/>
          </a:ln>
        </p:spPr>
      </p:sp>
      <p:sp>
        <p:nvSpPr>
          <p:cNvPr id="98" name="Text 96"/>
          <p:cNvSpPr/>
          <p:nvPr/>
        </p:nvSpPr>
        <p:spPr>
          <a:xfrm>
            <a:off x="15768638" y="3686175"/>
            <a:ext cx="1566862" cy="381000"/>
          </a:xfrm>
          <a:prstGeom prst="rect">
            <a:avLst/>
          </a:prstGeom>
          <a:noFill/>
        </p:spPr>
        <p:txBody>
          <a:bodyPr wrap="square" lIns="25400" tIns="25400" rIns="25400" bIns="25400" rtlCol="0" anchor="t">
            <a:normAutofit/>
          </a:bodyPr>
          <a:lstStyle/>
          <a:p>
            <a:pPr marL="0" indent="0" algn="l">
              <a:buNone/>
            </a:pPr>
            <a:r>
              <a:rPr lang="en-US" sz="2100" b="1" dirty="0">
                <a:solidFill>
                  <a:srgbClr val="FCD34D"/>
                </a:solidFill>
                <a:latin typeface="Arial" panose="020B0604020202020204" pitchFamily="34" charset="0"/>
                <a:ea typeface="Arial" panose="020B0604020202020204" pitchFamily="34" charset="-122"/>
                <a:cs typeface="Arial" panose="020B0604020202020204" pitchFamily="34" charset="-120"/>
              </a:rPr>
              <a:t>2</a:t>
            </a:r>
            <a:endParaRPr lang="en-US" sz="2100" dirty="0"/>
          </a:p>
        </p:txBody>
      </p:sp>
      <p:sp>
        <p:nvSpPr>
          <p:cNvPr id="99" name="Text 97"/>
          <p:cNvSpPr/>
          <p:nvPr/>
        </p:nvSpPr>
        <p:spPr>
          <a:xfrm>
            <a:off x="15768638" y="4029075"/>
            <a:ext cx="1566862" cy="5715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Change Notices</a:t>
            </a:r>
            <a:endParaRPr lang="en-US" sz="1800" dirty="0"/>
          </a:p>
        </p:txBody>
      </p:sp>
      <p:sp>
        <p:nvSpPr>
          <p:cNvPr id="100" name="Shape 98"/>
          <p:cNvSpPr/>
          <p:nvPr/>
        </p:nvSpPr>
        <p:spPr>
          <a:xfrm>
            <a:off x="13773150" y="4800600"/>
            <a:ext cx="3629025" cy="476250"/>
          </a:xfrm>
          <a:prstGeom prst="roundRect">
            <a:avLst>
              <a:gd name="adj" fmla="val 16000"/>
            </a:avLst>
          </a:prstGeom>
          <a:solidFill>
            <a:srgbClr val="4A3000"/>
          </a:solidFill>
          <a:ln w="9525">
            <a:solidFill>
              <a:srgbClr val="FFFFFF">
                <a:alpha val="20000"/>
              </a:srgbClr>
            </a:solidFill>
            <a:prstDash val="solid"/>
          </a:ln>
        </p:spPr>
      </p:sp>
      <p:sp>
        <p:nvSpPr>
          <p:cNvPr id="101" name="Text 99"/>
          <p:cNvSpPr/>
          <p:nvPr/>
        </p:nvSpPr>
        <p:spPr>
          <a:xfrm>
            <a:off x="13916025" y="4905375"/>
            <a:ext cx="3443573" cy="3048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Company: Argent Corp · Active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ROLE DEEP DIVE</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Super Admin &amp; Admin — Pages &amp; Functions</a:t>
            </a:r>
            <a:endParaRPr lang="en-US" sz="3000" dirty="0"/>
          </a:p>
        </p:txBody>
      </p:sp>
      <p:sp>
        <p:nvSpPr>
          <p:cNvPr id="6" name="Shape 4"/>
          <p:cNvSpPr/>
          <p:nvPr/>
        </p:nvSpPr>
        <p:spPr>
          <a:xfrm>
            <a:off x="685800" y="1533525"/>
            <a:ext cx="8305800" cy="923925"/>
          </a:xfrm>
          <a:prstGeom prst="roundRect">
            <a:avLst>
              <a:gd name="adj" fmla="val 12371"/>
            </a:avLst>
          </a:prstGeom>
          <a:solidFill>
            <a:srgbClr val="3B2080"/>
          </a:solidFill>
        </p:spPr>
      </p:sp>
      <p:sp>
        <p:nvSpPr>
          <p:cNvPr id="7" name="Shape 5"/>
          <p:cNvSpPr/>
          <p:nvPr/>
        </p:nvSpPr>
        <p:spPr>
          <a:xfrm>
            <a:off x="685800" y="1533525"/>
            <a:ext cx="8305800" cy="9525"/>
          </a:xfrm>
          <a:prstGeom prst="rect">
            <a:avLst/>
          </a:prstGeom>
          <a:solidFill>
            <a:srgbClr val="FFFFFF">
              <a:alpha val="25000"/>
            </a:srgbClr>
          </a:solidFill>
        </p:spPr>
      </p:sp>
      <p:sp>
        <p:nvSpPr>
          <p:cNvPr id="8" name="Shape 6"/>
          <p:cNvSpPr/>
          <p:nvPr/>
        </p:nvSpPr>
        <p:spPr>
          <a:xfrm>
            <a:off x="685800" y="1533525"/>
            <a:ext cx="9525" cy="923925"/>
          </a:xfrm>
          <a:prstGeom prst="rect">
            <a:avLst/>
          </a:prstGeom>
          <a:solidFill>
            <a:srgbClr val="FFFFFF">
              <a:alpha val="25000"/>
            </a:srgbClr>
          </a:solidFill>
        </p:spPr>
      </p:sp>
      <p:sp>
        <p:nvSpPr>
          <p:cNvPr id="9" name="Shape 7"/>
          <p:cNvSpPr/>
          <p:nvPr/>
        </p:nvSpPr>
        <p:spPr>
          <a:xfrm>
            <a:off x="8982075" y="1533525"/>
            <a:ext cx="9525" cy="923925"/>
          </a:xfrm>
          <a:prstGeom prst="rect">
            <a:avLst/>
          </a:prstGeom>
          <a:solidFill>
            <a:srgbClr val="FFFFFF">
              <a:alpha val="25000"/>
            </a:srgbClr>
          </a:solidFill>
        </p:spPr>
      </p:sp>
      <p:sp>
        <p:nvSpPr>
          <p:cNvPr id="10" name="Text 8"/>
          <p:cNvSpPr/>
          <p:nvPr/>
        </p:nvSpPr>
        <p:spPr>
          <a:xfrm>
            <a:off x="923925" y="1833563"/>
            <a:ext cx="416272" cy="371475"/>
          </a:xfrm>
          <a:prstGeom prst="rect">
            <a:avLst/>
          </a:prstGeom>
          <a:noFill/>
        </p:spPr>
        <p:txBody>
          <a:bodyPr wrap="square" lIns="25400" tIns="25400" rIns="25400" bIns="25400" rtlCol="0" anchor="t">
            <a:normAutofit/>
          </a:bodyPr>
          <a:lstStyle/>
          <a:p>
            <a:pPr marL="0" indent="0" algn="l">
              <a:buNone/>
            </a:pPr>
            <a:r>
              <a:rPr lang="en-US" sz="195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11" name="Text 9"/>
          <p:cNvSpPr/>
          <p:nvPr/>
        </p:nvSpPr>
        <p:spPr>
          <a:xfrm>
            <a:off x="1378297" y="1714500"/>
            <a:ext cx="2651508"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Super Admin</a:t>
            </a:r>
            <a:endParaRPr lang="en-US" sz="1800" dirty="0"/>
          </a:p>
        </p:txBody>
      </p:sp>
      <p:sp>
        <p:nvSpPr>
          <p:cNvPr id="12" name="Text 10"/>
          <p:cNvSpPr/>
          <p:nvPr/>
        </p:nvSpPr>
        <p:spPr>
          <a:xfrm>
            <a:off x="1378297" y="2009775"/>
            <a:ext cx="2651508"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A8DAFF"/>
                </a:solidFill>
                <a:latin typeface="Arial" panose="020B0604020202020204" pitchFamily="34" charset="0"/>
                <a:ea typeface="Arial" panose="020B0604020202020204" pitchFamily="34" charset="-122"/>
                <a:cs typeface="Arial" panose="020B0604020202020204" pitchFamily="34" charset="-120"/>
              </a:rPr>
              <a:t>Platform-Wide Control</a:t>
            </a:r>
            <a:endParaRPr lang="en-US" sz="1800" dirty="0"/>
          </a:p>
        </p:txBody>
      </p:sp>
      <p:sp>
        <p:nvSpPr>
          <p:cNvPr id="13" name="Shape 11"/>
          <p:cNvSpPr/>
          <p:nvPr/>
        </p:nvSpPr>
        <p:spPr>
          <a:xfrm>
            <a:off x="685800" y="2457450"/>
            <a:ext cx="8305800" cy="7524750"/>
          </a:xfrm>
          <a:prstGeom prst="rect">
            <a:avLst/>
          </a:prstGeom>
          <a:solidFill>
            <a:srgbClr val="1A55B8"/>
          </a:solidFill>
          <a:ln w="9525">
            <a:solidFill>
              <a:srgbClr val="FFFFFF">
                <a:alpha val="25000"/>
              </a:srgbClr>
            </a:solidFill>
            <a:prstDash val="solid"/>
          </a:ln>
        </p:spPr>
      </p:sp>
      <p:sp>
        <p:nvSpPr>
          <p:cNvPr id="14" name="Shape 12"/>
          <p:cNvSpPr/>
          <p:nvPr/>
        </p:nvSpPr>
        <p:spPr>
          <a:xfrm>
            <a:off x="695325" y="3314700"/>
            <a:ext cx="8286750" cy="9525"/>
          </a:xfrm>
          <a:prstGeom prst="rect">
            <a:avLst/>
          </a:prstGeom>
          <a:solidFill>
            <a:srgbClr val="FFFFFF">
              <a:alpha val="12000"/>
            </a:srgbClr>
          </a:solidFill>
        </p:spPr>
      </p:sp>
      <p:sp>
        <p:nvSpPr>
          <p:cNvPr id="15" name="Shape 13"/>
          <p:cNvSpPr/>
          <p:nvPr/>
        </p:nvSpPr>
        <p:spPr>
          <a:xfrm>
            <a:off x="885825" y="2657475"/>
            <a:ext cx="57150" cy="57150"/>
          </a:xfrm>
          <a:prstGeom prst="ellipse">
            <a:avLst/>
          </a:prstGeom>
          <a:solidFill>
            <a:srgbClr val="7EC8FF"/>
          </a:solidFill>
        </p:spPr>
      </p:sp>
      <p:sp>
        <p:nvSpPr>
          <p:cNvPr id="16" name="Text 14"/>
          <p:cNvSpPr/>
          <p:nvPr/>
        </p:nvSpPr>
        <p:spPr>
          <a:xfrm>
            <a:off x="1057275" y="2571750"/>
            <a:ext cx="7720754"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Dashboard</a:t>
            </a:r>
            <a:endParaRPr lang="en-US" sz="1800" dirty="0"/>
          </a:p>
        </p:txBody>
      </p:sp>
      <p:sp>
        <p:nvSpPr>
          <p:cNvPr id="17" name="Text 15"/>
          <p:cNvSpPr/>
          <p:nvPr/>
        </p:nvSpPr>
        <p:spPr>
          <a:xfrm>
            <a:off x="1057275" y="2867025"/>
            <a:ext cx="7720754"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Platform metrics — total companies, users, grievance stats, system health</a:t>
            </a:r>
            <a:endParaRPr lang="en-US" sz="1800" dirty="0"/>
          </a:p>
        </p:txBody>
      </p:sp>
      <p:sp>
        <p:nvSpPr>
          <p:cNvPr id="18" name="Shape 16"/>
          <p:cNvSpPr/>
          <p:nvPr/>
        </p:nvSpPr>
        <p:spPr>
          <a:xfrm>
            <a:off x="695325" y="4171950"/>
            <a:ext cx="8286750" cy="9525"/>
          </a:xfrm>
          <a:prstGeom prst="rect">
            <a:avLst/>
          </a:prstGeom>
          <a:solidFill>
            <a:srgbClr val="FFFFFF">
              <a:alpha val="12000"/>
            </a:srgbClr>
          </a:solidFill>
        </p:spPr>
      </p:sp>
      <p:sp>
        <p:nvSpPr>
          <p:cNvPr id="19" name="Shape 17"/>
          <p:cNvSpPr/>
          <p:nvPr/>
        </p:nvSpPr>
        <p:spPr>
          <a:xfrm>
            <a:off x="885825" y="3514725"/>
            <a:ext cx="57150" cy="57150"/>
          </a:xfrm>
          <a:prstGeom prst="ellipse">
            <a:avLst/>
          </a:prstGeom>
          <a:solidFill>
            <a:srgbClr val="7EC8FF"/>
          </a:solidFill>
        </p:spPr>
      </p:sp>
      <p:sp>
        <p:nvSpPr>
          <p:cNvPr id="20" name="Text 18"/>
          <p:cNvSpPr/>
          <p:nvPr/>
        </p:nvSpPr>
        <p:spPr>
          <a:xfrm>
            <a:off x="1057275" y="3429000"/>
            <a:ext cx="5497392"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Companies</a:t>
            </a:r>
            <a:endParaRPr lang="en-US" sz="1800" dirty="0"/>
          </a:p>
        </p:txBody>
      </p:sp>
      <p:sp>
        <p:nvSpPr>
          <p:cNvPr id="21" name="Text 19"/>
          <p:cNvSpPr/>
          <p:nvPr/>
        </p:nvSpPr>
        <p:spPr>
          <a:xfrm>
            <a:off x="1057275" y="3724275"/>
            <a:ext cx="5497392"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Create, update, activate/deactivate company tenants</a:t>
            </a:r>
            <a:endParaRPr lang="en-US" sz="1800" dirty="0"/>
          </a:p>
        </p:txBody>
      </p:sp>
      <p:sp>
        <p:nvSpPr>
          <p:cNvPr id="22" name="Shape 20"/>
          <p:cNvSpPr/>
          <p:nvPr/>
        </p:nvSpPr>
        <p:spPr>
          <a:xfrm>
            <a:off x="695325" y="5029200"/>
            <a:ext cx="8286750" cy="9525"/>
          </a:xfrm>
          <a:prstGeom prst="rect">
            <a:avLst/>
          </a:prstGeom>
          <a:solidFill>
            <a:srgbClr val="FFFFFF">
              <a:alpha val="12000"/>
            </a:srgbClr>
          </a:solidFill>
        </p:spPr>
      </p:sp>
      <p:sp>
        <p:nvSpPr>
          <p:cNvPr id="23" name="Shape 21"/>
          <p:cNvSpPr/>
          <p:nvPr/>
        </p:nvSpPr>
        <p:spPr>
          <a:xfrm>
            <a:off x="885825" y="4371975"/>
            <a:ext cx="57150" cy="57150"/>
          </a:xfrm>
          <a:prstGeom prst="ellipse">
            <a:avLst/>
          </a:prstGeom>
          <a:solidFill>
            <a:srgbClr val="7EC8FF"/>
          </a:solidFill>
        </p:spPr>
      </p:sp>
      <p:sp>
        <p:nvSpPr>
          <p:cNvPr id="24" name="Text 22"/>
          <p:cNvSpPr/>
          <p:nvPr/>
        </p:nvSpPr>
        <p:spPr>
          <a:xfrm>
            <a:off x="1057275" y="4286250"/>
            <a:ext cx="656983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Groups</a:t>
            </a:r>
            <a:endParaRPr lang="en-US" sz="1800" dirty="0"/>
          </a:p>
        </p:txBody>
      </p:sp>
      <p:sp>
        <p:nvSpPr>
          <p:cNvPr id="25" name="Text 23"/>
          <p:cNvSpPr/>
          <p:nvPr/>
        </p:nvSpPr>
        <p:spPr>
          <a:xfrm>
            <a:off x="1057275" y="4581525"/>
            <a:ext cx="6569830"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Manage security groups, assign permissions and access levels</a:t>
            </a:r>
            <a:endParaRPr lang="en-US" sz="1800" dirty="0"/>
          </a:p>
        </p:txBody>
      </p:sp>
      <p:sp>
        <p:nvSpPr>
          <p:cNvPr id="26" name="Shape 24"/>
          <p:cNvSpPr/>
          <p:nvPr/>
        </p:nvSpPr>
        <p:spPr>
          <a:xfrm>
            <a:off x="695325" y="5886450"/>
            <a:ext cx="8286750" cy="9525"/>
          </a:xfrm>
          <a:prstGeom prst="rect">
            <a:avLst/>
          </a:prstGeom>
          <a:solidFill>
            <a:srgbClr val="FFFFFF">
              <a:alpha val="12000"/>
            </a:srgbClr>
          </a:solidFill>
        </p:spPr>
      </p:sp>
      <p:sp>
        <p:nvSpPr>
          <p:cNvPr id="27" name="Shape 25"/>
          <p:cNvSpPr/>
          <p:nvPr/>
        </p:nvSpPr>
        <p:spPr>
          <a:xfrm>
            <a:off x="885825" y="5229225"/>
            <a:ext cx="57150" cy="57150"/>
          </a:xfrm>
          <a:prstGeom prst="ellipse">
            <a:avLst/>
          </a:prstGeom>
          <a:solidFill>
            <a:srgbClr val="7EC8FF"/>
          </a:solidFill>
        </p:spPr>
      </p:sp>
      <p:sp>
        <p:nvSpPr>
          <p:cNvPr id="28" name="Text 26"/>
          <p:cNvSpPr/>
          <p:nvPr/>
        </p:nvSpPr>
        <p:spPr>
          <a:xfrm>
            <a:off x="1057275" y="5143500"/>
            <a:ext cx="7076463"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Users</a:t>
            </a:r>
            <a:endParaRPr lang="en-US" sz="1800" dirty="0"/>
          </a:p>
        </p:txBody>
      </p:sp>
      <p:sp>
        <p:nvSpPr>
          <p:cNvPr id="29" name="Text 27"/>
          <p:cNvSpPr/>
          <p:nvPr/>
        </p:nvSpPr>
        <p:spPr>
          <a:xfrm>
            <a:off x="1057275" y="5438775"/>
            <a:ext cx="7076463"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View and manage all Super Admins and Admins across the platform</a:t>
            </a:r>
            <a:endParaRPr lang="en-US" sz="1800" dirty="0"/>
          </a:p>
        </p:txBody>
      </p:sp>
      <p:sp>
        <p:nvSpPr>
          <p:cNvPr id="30" name="Shape 28"/>
          <p:cNvSpPr/>
          <p:nvPr/>
        </p:nvSpPr>
        <p:spPr>
          <a:xfrm>
            <a:off x="695325" y="6743700"/>
            <a:ext cx="8286750" cy="9525"/>
          </a:xfrm>
          <a:prstGeom prst="rect">
            <a:avLst/>
          </a:prstGeom>
          <a:solidFill>
            <a:srgbClr val="FFFFFF">
              <a:alpha val="12000"/>
            </a:srgbClr>
          </a:solidFill>
        </p:spPr>
      </p:sp>
      <p:sp>
        <p:nvSpPr>
          <p:cNvPr id="31" name="Shape 29"/>
          <p:cNvSpPr/>
          <p:nvPr/>
        </p:nvSpPr>
        <p:spPr>
          <a:xfrm>
            <a:off x="885825" y="6086475"/>
            <a:ext cx="57150" cy="57150"/>
          </a:xfrm>
          <a:prstGeom prst="ellipse">
            <a:avLst/>
          </a:prstGeom>
          <a:solidFill>
            <a:srgbClr val="7EC8FF"/>
          </a:solidFill>
        </p:spPr>
      </p:sp>
      <p:sp>
        <p:nvSpPr>
          <p:cNvPr id="32" name="Text 30"/>
          <p:cNvSpPr/>
          <p:nvPr/>
        </p:nvSpPr>
        <p:spPr>
          <a:xfrm>
            <a:off x="1057275" y="6000750"/>
            <a:ext cx="608189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Regulations</a:t>
            </a:r>
            <a:endParaRPr lang="en-US" sz="1800" dirty="0"/>
          </a:p>
        </p:txBody>
      </p:sp>
      <p:sp>
        <p:nvSpPr>
          <p:cNvPr id="33" name="Text 31"/>
          <p:cNvSpPr/>
          <p:nvPr/>
        </p:nvSpPr>
        <p:spPr>
          <a:xfrm>
            <a:off x="1057275" y="6296025"/>
            <a:ext cx="6081899"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View and manage all regulatory data across all companies</a:t>
            </a:r>
            <a:endParaRPr lang="en-US" sz="1800" dirty="0"/>
          </a:p>
        </p:txBody>
      </p:sp>
      <p:sp>
        <p:nvSpPr>
          <p:cNvPr id="34" name="Shape 32"/>
          <p:cNvSpPr/>
          <p:nvPr/>
        </p:nvSpPr>
        <p:spPr>
          <a:xfrm>
            <a:off x="695325" y="7600950"/>
            <a:ext cx="8286750" cy="9525"/>
          </a:xfrm>
          <a:prstGeom prst="rect">
            <a:avLst/>
          </a:prstGeom>
          <a:solidFill>
            <a:srgbClr val="FFFFFF">
              <a:alpha val="12000"/>
            </a:srgbClr>
          </a:solidFill>
        </p:spPr>
      </p:sp>
      <p:sp>
        <p:nvSpPr>
          <p:cNvPr id="35" name="Shape 33"/>
          <p:cNvSpPr/>
          <p:nvPr/>
        </p:nvSpPr>
        <p:spPr>
          <a:xfrm>
            <a:off x="885825" y="6943725"/>
            <a:ext cx="57150" cy="57150"/>
          </a:xfrm>
          <a:prstGeom prst="ellipse">
            <a:avLst/>
          </a:prstGeom>
          <a:solidFill>
            <a:srgbClr val="7EC8FF"/>
          </a:solidFill>
        </p:spPr>
      </p:sp>
      <p:sp>
        <p:nvSpPr>
          <p:cNvPr id="36" name="Text 34"/>
          <p:cNvSpPr/>
          <p:nvPr/>
        </p:nvSpPr>
        <p:spPr>
          <a:xfrm>
            <a:off x="1057275" y="6858000"/>
            <a:ext cx="5933204"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Sync &amp; Scheduler</a:t>
            </a:r>
            <a:endParaRPr lang="en-US" sz="1800" dirty="0"/>
          </a:p>
        </p:txBody>
      </p:sp>
      <p:sp>
        <p:nvSpPr>
          <p:cNvPr id="37" name="Text 35"/>
          <p:cNvSpPr/>
          <p:nvPr/>
        </p:nvSpPr>
        <p:spPr>
          <a:xfrm>
            <a:off x="1057275" y="7153275"/>
            <a:ext cx="5933204"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Trigger regulation syncs and view background job history</a:t>
            </a:r>
            <a:endParaRPr lang="en-US" sz="1800" dirty="0"/>
          </a:p>
        </p:txBody>
      </p:sp>
      <p:sp>
        <p:nvSpPr>
          <p:cNvPr id="38" name="Shape 36"/>
          <p:cNvSpPr/>
          <p:nvPr/>
        </p:nvSpPr>
        <p:spPr>
          <a:xfrm>
            <a:off x="885825" y="7800975"/>
            <a:ext cx="57150" cy="57150"/>
          </a:xfrm>
          <a:prstGeom prst="ellipse">
            <a:avLst/>
          </a:prstGeom>
          <a:solidFill>
            <a:srgbClr val="7EC8FF"/>
          </a:solidFill>
        </p:spPr>
      </p:sp>
      <p:sp>
        <p:nvSpPr>
          <p:cNvPr id="39" name="Text 37"/>
          <p:cNvSpPr/>
          <p:nvPr/>
        </p:nvSpPr>
        <p:spPr>
          <a:xfrm>
            <a:off x="1057275" y="7715250"/>
            <a:ext cx="5417833"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40" name="Text 38"/>
          <p:cNvSpPr/>
          <p:nvPr/>
        </p:nvSpPr>
        <p:spPr>
          <a:xfrm>
            <a:off x="1057275" y="8010525"/>
            <a:ext cx="5417833"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Monitor all grievances raised across every company</a:t>
            </a:r>
            <a:endParaRPr lang="en-US" sz="1800" dirty="0"/>
          </a:p>
        </p:txBody>
      </p:sp>
      <p:sp>
        <p:nvSpPr>
          <p:cNvPr id="41" name="Shape 39"/>
          <p:cNvSpPr/>
          <p:nvPr/>
        </p:nvSpPr>
        <p:spPr>
          <a:xfrm>
            <a:off x="9296400" y="1533525"/>
            <a:ext cx="8305800" cy="923925"/>
          </a:xfrm>
          <a:prstGeom prst="roundRect">
            <a:avLst>
              <a:gd name="adj" fmla="val 12371"/>
            </a:avLst>
          </a:prstGeom>
          <a:solidFill>
            <a:srgbClr val="0A2460"/>
          </a:solidFill>
        </p:spPr>
      </p:sp>
      <p:sp>
        <p:nvSpPr>
          <p:cNvPr id="42" name="Shape 40"/>
          <p:cNvSpPr/>
          <p:nvPr/>
        </p:nvSpPr>
        <p:spPr>
          <a:xfrm>
            <a:off x="9296400" y="1533525"/>
            <a:ext cx="8305800" cy="9525"/>
          </a:xfrm>
          <a:prstGeom prst="rect">
            <a:avLst/>
          </a:prstGeom>
          <a:solidFill>
            <a:srgbClr val="FFFFFF">
              <a:alpha val="25000"/>
            </a:srgbClr>
          </a:solidFill>
        </p:spPr>
      </p:sp>
      <p:sp>
        <p:nvSpPr>
          <p:cNvPr id="43" name="Shape 41"/>
          <p:cNvSpPr/>
          <p:nvPr/>
        </p:nvSpPr>
        <p:spPr>
          <a:xfrm>
            <a:off x="9296400" y="1533525"/>
            <a:ext cx="9525" cy="923925"/>
          </a:xfrm>
          <a:prstGeom prst="rect">
            <a:avLst/>
          </a:prstGeom>
          <a:solidFill>
            <a:srgbClr val="FFFFFF">
              <a:alpha val="25000"/>
            </a:srgbClr>
          </a:solidFill>
        </p:spPr>
      </p:sp>
      <p:sp>
        <p:nvSpPr>
          <p:cNvPr id="44" name="Shape 42"/>
          <p:cNvSpPr/>
          <p:nvPr/>
        </p:nvSpPr>
        <p:spPr>
          <a:xfrm>
            <a:off x="17592675" y="1533525"/>
            <a:ext cx="9525" cy="923925"/>
          </a:xfrm>
          <a:prstGeom prst="rect">
            <a:avLst/>
          </a:prstGeom>
          <a:solidFill>
            <a:srgbClr val="FFFFFF">
              <a:alpha val="25000"/>
            </a:srgbClr>
          </a:solidFill>
        </p:spPr>
      </p:sp>
      <p:sp>
        <p:nvSpPr>
          <p:cNvPr id="45" name="Text 43"/>
          <p:cNvSpPr/>
          <p:nvPr/>
        </p:nvSpPr>
        <p:spPr>
          <a:xfrm>
            <a:off x="9534525" y="1833563"/>
            <a:ext cx="416272" cy="371475"/>
          </a:xfrm>
          <a:prstGeom prst="rect">
            <a:avLst/>
          </a:prstGeom>
          <a:noFill/>
        </p:spPr>
        <p:txBody>
          <a:bodyPr wrap="square" lIns="25400" tIns="25400" rIns="25400" bIns="25400" rtlCol="0" anchor="t">
            <a:normAutofit/>
          </a:bodyPr>
          <a:lstStyle/>
          <a:p>
            <a:pPr marL="0" indent="0" algn="l">
              <a:buNone/>
            </a:pPr>
            <a:r>
              <a:rPr lang="en-US" sz="195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46" name="Text 44"/>
          <p:cNvSpPr/>
          <p:nvPr/>
        </p:nvSpPr>
        <p:spPr>
          <a:xfrm>
            <a:off x="9988897" y="1714500"/>
            <a:ext cx="3468713"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Admin</a:t>
            </a:r>
            <a:endParaRPr lang="en-US" sz="1800" dirty="0"/>
          </a:p>
        </p:txBody>
      </p:sp>
      <p:sp>
        <p:nvSpPr>
          <p:cNvPr id="47" name="Text 45"/>
          <p:cNvSpPr/>
          <p:nvPr/>
        </p:nvSpPr>
        <p:spPr>
          <a:xfrm>
            <a:off x="9988897" y="2009775"/>
            <a:ext cx="3468713"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A8DAFF"/>
                </a:solidFill>
                <a:latin typeface="Arial" panose="020B0604020202020204" pitchFamily="34" charset="0"/>
                <a:ea typeface="Arial" panose="020B0604020202020204" pitchFamily="34" charset="-122"/>
                <a:cs typeface="Arial" panose="020B0604020202020204" pitchFamily="34" charset="-120"/>
              </a:rPr>
              <a:t>Company-Level Management</a:t>
            </a:r>
            <a:endParaRPr lang="en-US" sz="1800" dirty="0"/>
          </a:p>
        </p:txBody>
      </p:sp>
      <p:sp>
        <p:nvSpPr>
          <p:cNvPr id="48" name="Shape 46"/>
          <p:cNvSpPr/>
          <p:nvPr/>
        </p:nvSpPr>
        <p:spPr>
          <a:xfrm>
            <a:off x="9296400" y="2457450"/>
            <a:ext cx="8305800" cy="7524750"/>
          </a:xfrm>
          <a:prstGeom prst="rect">
            <a:avLst/>
          </a:prstGeom>
          <a:solidFill>
            <a:srgbClr val="1A55B8"/>
          </a:solidFill>
          <a:ln w="9525">
            <a:solidFill>
              <a:srgbClr val="FFFFFF">
                <a:alpha val="25000"/>
              </a:srgbClr>
            </a:solidFill>
            <a:prstDash val="solid"/>
          </a:ln>
        </p:spPr>
      </p:sp>
      <p:sp>
        <p:nvSpPr>
          <p:cNvPr id="49" name="Shape 47"/>
          <p:cNvSpPr/>
          <p:nvPr/>
        </p:nvSpPr>
        <p:spPr>
          <a:xfrm>
            <a:off x="9305925" y="3314700"/>
            <a:ext cx="8286750" cy="9525"/>
          </a:xfrm>
          <a:prstGeom prst="rect">
            <a:avLst/>
          </a:prstGeom>
          <a:solidFill>
            <a:srgbClr val="FFFFFF">
              <a:alpha val="12000"/>
            </a:srgbClr>
          </a:solidFill>
        </p:spPr>
      </p:sp>
      <p:sp>
        <p:nvSpPr>
          <p:cNvPr id="50" name="Shape 48"/>
          <p:cNvSpPr/>
          <p:nvPr/>
        </p:nvSpPr>
        <p:spPr>
          <a:xfrm>
            <a:off x="9496425" y="2657475"/>
            <a:ext cx="57150" cy="57150"/>
          </a:xfrm>
          <a:prstGeom prst="ellipse">
            <a:avLst/>
          </a:prstGeom>
          <a:solidFill>
            <a:srgbClr val="7EC8FF"/>
          </a:solidFill>
        </p:spPr>
      </p:sp>
      <p:sp>
        <p:nvSpPr>
          <p:cNvPr id="51" name="Text 49"/>
          <p:cNvSpPr/>
          <p:nvPr/>
        </p:nvSpPr>
        <p:spPr>
          <a:xfrm>
            <a:off x="9667875" y="2571750"/>
            <a:ext cx="732817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Dashboard</a:t>
            </a:r>
            <a:endParaRPr lang="en-US" sz="1800" dirty="0"/>
          </a:p>
        </p:txBody>
      </p:sp>
      <p:sp>
        <p:nvSpPr>
          <p:cNvPr id="52" name="Text 50"/>
          <p:cNvSpPr/>
          <p:nvPr/>
        </p:nvSpPr>
        <p:spPr>
          <a:xfrm>
            <a:off x="9667875" y="2867025"/>
            <a:ext cx="7328170"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Company metrics — customers, employees, subscriptions, grievances</a:t>
            </a:r>
            <a:endParaRPr lang="en-US" sz="1800" dirty="0"/>
          </a:p>
        </p:txBody>
      </p:sp>
      <p:sp>
        <p:nvSpPr>
          <p:cNvPr id="53" name="Shape 51"/>
          <p:cNvSpPr/>
          <p:nvPr/>
        </p:nvSpPr>
        <p:spPr>
          <a:xfrm>
            <a:off x="9305925" y="4171950"/>
            <a:ext cx="8286750" cy="9525"/>
          </a:xfrm>
          <a:prstGeom prst="rect">
            <a:avLst/>
          </a:prstGeom>
          <a:solidFill>
            <a:srgbClr val="FFFFFF">
              <a:alpha val="12000"/>
            </a:srgbClr>
          </a:solidFill>
        </p:spPr>
      </p:sp>
      <p:sp>
        <p:nvSpPr>
          <p:cNvPr id="54" name="Shape 52"/>
          <p:cNvSpPr/>
          <p:nvPr/>
        </p:nvSpPr>
        <p:spPr>
          <a:xfrm>
            <a:off x="9496425" y="3514725"/>
            <a:ext cx="57150" cy="57150"/>
          </a:xfrm>
          <a:prstGeom prst="ellipse">
            <a:avLst/>
          </a:prstGeom>
          <a:solidFill>
            <a:srgbClr val="7EC8FF"/>
          </a:solidFill>
        </p:spPr>
      </p:sp>
      <p:sp>
        <p:nvSpPr>
          <p:cNvPr id="55" name="Text 53"/>
          <p:cNvSpPr/>
          <p:nvPr/>
        </p:nvSpPr>
        <p:spPr>
          <a:xfrm>
            <a:off x="9667875" y="3429000"/>
            <a:ext cx="7015146"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Customers</a:t>
            </a:r>
            <a:endParaRPr lang="en-US" sz="1800" dirty="0"/>
          </a:p>
        </p:txBody>
      </p:sp>
      <p:sp>
        <p:nvSpPr>
          <p:cNvPr id="56" name="Text 54"/>
          <p:cNvSpPr/>
          <p:nvPr/>
        </p:nvSpPr>
        <p:spPr>
          <a:xfrm>
            <a:off x="9667875" y="3724275"/>
            <a:ext cx="7015146"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Create, update, soft-delete and view customers within the company</a:t>
            </a:r>
            <a:endParaRPr lang="en-US" sz="1800" dirty="0"/>
          </a:p>
        </p:txBody>
      </p:sp>
      <p:sp>
        <p:nvSpPr>
          <p:cNvPr id="57" name="Shape 55"/>
          <p:cNvSpPr/>
          <p:nvPr/>
        </p:nvSpPr>
        <p:spPr>
          <a:xfrm>
            <a:off x="9305925" y="5029200"/>
            <a:ext cx="8286750" cy="9525"/>
          </a:xfrm>
          <a:prstGeom prst="rect">
            <a:avLst/>
          </a:prstGeom>
          <a:solidFill>
            <a:srgbClr val="FFFFFF">
              <a:alpha val="12000"/>
            </a:srgbClr>
          </a:solidFill>
        </p:spPr>
      </p:sp>
      <p:sp>
        <p:nvSpPr>
          <p:cNvPr id="58" name="Shape 56"/>
          <p:cNvSpPr/>
          <p:nvPr/>
        </p:nvSpPr>
        <p:spPr>
          <a:xfrm>
            <a:off x="9496425" y="4371975"/>
            <a:ext cx="57150" cy="57150"/>
          </a:xfrm>
          <a:prstGeom prst="ellipse">
            <a:avLst/>
          </a:prstGeom>
          <a:solidFill>
            <a:srgbClr val="7EC8FF"/>
          </a:solidFill>
        </p:spPr>
      </p:sp>
      <p:sp>
        <p:nvSpPr>
          <p:cNvPr id="59" name="Text 57"/>
          <p:cNvSpPr/>
          <p:nvPr/>
        </p:nvSpPr>
        <p:spPr>
          <a:xfrm>
            <a:off x="9667875" y="4286250"/>
            <a:ext cx="6465131"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Employees</a:t>
            </a:r>
            <a:endParaRPr lang="en-US" sz="1800" dirty="0"/>
          </a:p>
        </p:txBody>
      </p:sp>
      <p:sp>
        <p:nvSpPr>
          <p:cNvPr id="60" name="Text 58"/>
          <p:cNvSpPr/>
          <p:nvPr/>
        </p:nvSpPr>
        <p:spPr>
          <a:xfrm>
            <a:off x="9667875" y="4581525"/>
            <a:ext cx="6465131"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Manage employees, assign to departments, divisions, districts</a:t>
            </a:r>
            <a:endParaRPr lang="en-US" sz="1800" dirty="0"/>
          </a:p>
        </p:txBody>
      </p:sp>
      <p:sp>
        <p:nvSpPr>
          <p:cNvPr id="61" name="Shape 59"/>
          <p:cNvSpPr/>
          <p:nvPr/>
        </p:nvSpPr>
        <p:spPr>
          <a:xfrm>
            <a:off x="9305925" y="5886450"/>
            <a:ext cx="8286750" cy="9525"/>
          </a:xfrm>
          <a:prstGeom prst="rect">
            <a:avLst/>
          </a:prstGeom>
          <a:solidFill>
            <a:srgbClr val="FFFFFF">
              <a:alpha val="12000"/>
            </a:srgbClr>
          </a:solidFill>
        </p:spPr>
      </p:sp>
      <p:sp>
        <p:nvSpPr>
          <p:cNvPr id="62" name="Shape 60"/>
          <p:cNvSpPr/>
          <p:nvPr/>
        </p:nvSpPr>
        <p:spPr>
          <a:xfrm>
            <a:off x="9496425" y="5229225"/>
            <a:ext cx="57150" cy="57150"/>
          </a:xfrm>
          <a:prstGeom prst="ellipse">
            <a:avLst/>
          </a:prstGeom>
          <a:solidFill>
            <a:srgbClr val="7EC8FF"/>
          </a:solidFill>
        </p:spPr>
      </p:sp>
      <p:sp>
        <p:nvSpPr>
          <p:cNvPr id="63" name="Text 61"/>
          <p:cNvSpPr/>
          <p:nvPr/>
        </p:nvSpPr>
        <p:spPr>
          <a:xfrm>
            <a:off x="9667875" y="5143500"/>
            <a:ext cx="587663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Org Structure</a:t>
            </a:r>
            <a:endParaRPr lang="en-US" sz="1800" dirty="0"/>
          </a:p>
        </p:txBody>
      </p:sp>
      <p:sp>
        <p:nvSpPr>
          <p:cNvPr id="64" name="Text 62"/>
          <p:cNvSpPr/>
          <p:nvPr/>
        </p:nvSpPr>
        <p:spPr>
          <a:xfrm>
            <a:off x="9667875" y="5438775"/>
            <a:ext cx="5876639"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Manage departments, divisions, and operational districts</a:t>
            </a:r>
            <a:endParaRPr lang="en-US" sz="1800" dirty="0"/>
          </a:p>
        </p:txBody>
      </p:sp>
      <p:sp>
        <p:nvSpPr>
          <p:cNvPr id="65" name="Shape 63"/>
          <p:cNvSpPr/>
          <p:nvPr/>
        </p:nvSpPr>
        <p:spPr>
          <a:xfrm>
            <a:off x="9305925" y="6743700"/>
            <a:ext cx="8286750" cy="9525"/>
          </a:xfrm>
          <a:prstGeom prst="rect">
            <a:avLst/>
          </a:prstGeom>
          <a:solidFill>
            <a:srgbClr val="FFFFFF">
              <a:alpha val="12000"/>
            </a:srgbClr>
          </a:solidFill>
        </p:spPr>
      </p:sp>
      <p:sp>
        <p:nvSpPr>
          <p:cNvPr id="66" name="Shape 64"/>
          <p:cNvSpPr/>
          <p:nvPr/>
        </p:nvSpPr>
        <p:spPr>
          <a:xfrm>
            <a:off x="9496425" y="6086475"/>
            <a:ext cx="57150" cy="57150"/>
          </a:xfrm>
          <a:prstGeom prst="ellipse">
            <a:avLst/>
          </a:prstGeom>
          <a:solidFill>
            <a:srgbClr val="7EC8FF"/>
          </a:solidFill>
        </p:spPr>
      </p:sp>
      <p:sp>
        <p:nvSpPr>
          <p:cNvPr id="67" name="Text 65"/>
          <p:cNvSpPr/>
          <p:nvPr/>
        </p:nvSpPr>
        <p:spPr>
          <a:xfrm>
            <a:off x="9667875" y="6000750"/>
            <a:ext cx="4894491"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Subscriptions</a:t>
            </a:r>
            <a:endParaRPr lang="en-US" sz="1800" dirty="0"/>
          </a:p>
        </p:txBody>
      </p:sp>
      <p:sp>
        <p:nvSpPr>
          <p:cNvPr id="68" name="Text 66"/>
          <p:cNvSpPr/>
          <p:nvPr/>
        </p:nvSpPr>
        <p:spPr>
          <a:xfrm>
            <a:off x="9667875" y="6296025"/>
            <a:ext cx="4894491"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Manage regulatory subscriptions for customers</a:t>
            </a:r>
            <a:endParaRPr lang="en-US" sz="1800" dirty="0"/>
          </a:p>
        </p:txBody>
      </p:sp>
      <p:sp>
        <p:nvSpPr>
          <p:cNvPr id="69" name="Shape 67"/>
          <p:cNvSpPr/>
          <p:nvPr/>
        </p:nvSpPr>
        <p:spPr>
          <a:xfrm>
            <a:off x="9305925" y="7600950"/>
            <a:ext cx="8286750" cy="9525"/>
          </a:xfrm>
          <a:prstGeom prst="rect">
            <a:avLst/>
          </a:prstGeom>
          <a:solidFill>
            <a:srgbClr val="FFFFFF">
              <a:alpha val="12000"/>
            </a:srgbClr>
          </a:solidFill>
        </p:spPr>
      </p:sp>
      <p:sp>
        <p:nvSpPr>
          <p:cNvPr id="70" name="Shape 68"/>
          <p:cNvSpPr/>
          <p:nvPr/>
        </p:nvSpPr>
        <p:spPr>
          <a:xfrm>
            <a:off x="9496425" y="6943725"/>
            <a:ext cx="57150" cy="57150"/>
          </a:xfrm>
          <a:prstGeom prst="ellipse">
            <a:avLst/>
          </a:prstGeom>
          <a:solidFill>
            <a:srgbClr val="7EC8FF"/>
          </a:solidFill>
        </p:spPr>
      </p:sp>
      <p:sp>
        <p:nvSpPr>
          <p:cNvPr id="71" name="Text 69"/>
          <p:cNvSpPr/>
          <p:nvPr/>
        </p:nvSpPr>
        <p:spPr>
          <a:xfrm>
            <a:off x="9667875" y="6858000"/>
            <a:ext cx="5759064"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Regulations &amp; Notices</a:t>
            </a:r>
            <a:endParaRPr lang="en-US" sz="1800" dirty="0"/>
          </a:p>
        </p:txBody>
      </p:sp>
      <p:sp>
        <p:nvSpPr>
          <p:cNvPr id="72" name="Text 70"/>
          <p:cNvSpPr/>
          <p:nvPr/>
        </p:nvSpPr>
        <p:spPr>
          <a:xfrm>
            <a:off x="9667875" y="7153275"/>
            <a:ext cx="5759064"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Browse regulations and view regulatory change notices</a:t>
            </a:r>
            <a:endParaRPr lang="en-US" sz="1800" dirty="0"/>
          </a:p>
        </p:txBody>
      </p:sp>
      <p:sp>
        <p:nvSpPr>
          <p:cNvPr id="73" name="Shape 71"/>
          <p:cNvSpPr/>
          <p:nvPr/>
        </p:nvSpPr>
        <p:spPr>
          <a:xfrm>
            <a:off x="9496425" y="7800975"/>
            <a:ext cx="57150" cy="57150"/>
          </a:xfrm>
          <a:prstGeom prst="ellipse">
            <a:avLst/>
          </a:prstGeom>
          <a:solidFill>
            <a:srgbClr val="7EC8FF"/>
          </a:solidFill>
        </p:spPr>
      </p:sp>
      <p:sp>
        <p:nvSpPr>
          <p:cNvPr id="74" name="Text 72"/>
          <p:cNvSpPr/>
          <p:nvPr/>
        </p:nvSpPr>
        <p:spPr>
          <a:xfrm>
            <a:off x="9667875" y="7715250"/>
            <a:ext cx="5654058"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Notifications &amp; Grievances</a:t>
            </a:r>
            <a:endParaRPr lang="en-US" sz="1800" dirty="0"/>
          </a:p>
        </p:txBody>
      </p:sp>
      <p:sp>
        <p:nvSpPr>
          <p:cNvPr id="75" name="Text 73"/>
          <p:cNvSpPr/>
          <p:nvPr/>
        </p:nvSpPr>
        <p:spPr>
          <a:xfrm>
            <a:off x="9667875" y="8010525"/>
            <a:ext cx="5654058"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Manage system notifications and company grievances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ROLE DEEP DIVE</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Customer &amp; Employee — Pages &amp; Functions</a:t>
            </a:r>
            <a:endParaRPr lang="en-US" sz="3000" dirty="0"/>
          </a:p>
        </p:txBody>
      </p:sp>
      <p:sp>
        <p:nvSpPr>
          <p:cNvPr id="6" name="Shape 4"/>
          <p:cNvSpPr/>
          <p:nvPr/>
        </p:nvSpPr>
        <p:spPr>
          <a:xfrm>
            <a:off x="685800" y="1533525"/>
            <a:ext cx="8305800" cy="923925"/>
          </a:xfrm>
          <a:prstGeom prst="roundRect">
            <a:avLst>
              <a:gd name="adj" fmla="val 12371"/>
            </a:avLst>
          </a:prstGeom>
          <a:solidFill>
            <a:srgbClr val="0A4A38"/>
          </a:solidFill>
        </p:spPr>
      </p:sp>
      <p:sp>
        <p:nvSpPr>
          <p:cNvPr id="7" name="Shape 5"/>
          <p:cNvSpPr/>
          <p:nvPr/>
        </p:nvSpPr>
        <p:spPr>
          <a:xfrm>
            <a:off x="685800" y="1533525"/>
            <a:ext cx="8305800" cy="9525"/>
          </a:xfrm>
          <a:prstGeom prst="rect">
            <a:avLst/>
          </a:prstGeom>
          <a:solidFill>
            <a:srgbClr val="FFFFFF">
              <a:alpha val="25000"/>
            </a:srgbClr>
          </a:solidFill>
        </p:spPr>
      </p:sp>
      <p:sp>
        <p:nvSpPr>
          <p:cNvPr id="8" name="Shape 6"/>
          <p:cNvSpPr/>
          <p:nvPr/>
        </p:nvSpPr>
        <p:spPr>
          <a:xfrm>
            <a:off x="685800" y="1533525"/>
            <a:ext cx="9525" cy="923925"/>
          </a:xfrm>
          <a:prstGeom prst="rect">
            <a:avLst/>
          </a:prstGeom>
          <a:solidFill>
            <a:srgbClr val="FFFFFF">
              <a:alpha val="25000"/>
            </a:srgbClr>
          </a:solidFill>
        </p:spPr>
      </p:sp>
      <p:sp>
        <p:nvSpPr>
          <p:cNvPr id="9" name="Shape 7"/>
          <p:cNvSpPr/>
          <p:nvPr/>
        </p:nvSpPr>
        <p:spPr>
          <a:xfrm>
            <a:off x="8982075" y="1533525"/>
            <a:ext cx="9525" cy="923925"/>
          </a:xfrm>
          <a:prstGeom prst="rect">
            <a:avLst/>
          </a:prstGeom>
          <a:solidFill>
            <a:srgbClr val="FFFFFF">
              <a:alpha val="25000"/>
            </a:srgbClr>
          </a:solidFill>
        </p:spPr>
      </p:sp>
      <p:sp>
        <p:nvSpPr>
          <p:cNvPr id="10" name="Text 8"/>
          <p:cNvSpPr/>
          <p:nvPr/>
        </p:nvSpPr>
        <p:spPr>
          <a:xfrm>
            <a:off x="923925" y="1833563"/>
            <a:ext cx="416272" cy="371475"/>
          </a:xfrm>
          <a:prstGeom prst="rect">
            <a:avLst/>
          </a:prstGeom>
          <a:noFill/>
        </p:spPr>
        <p:txBody>
          <a:bodyPr wrap="square" lIns="25400" tIns="25400" rIns="25400" bIns="25400" rtlCol="0" anchor="t">
            <a:normAutofit/>
          </a:bodyPr>
          <a:lstStyle/>
          <a:p>
            <a:pPr marL="0" indent="0" algn="l">
              <a:buNone/>
            </a:pPr>
            <a:r>
              <a:rPr lang="en-US" sz="195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11" name="Text 9"/>
          <p:cNvSpPr/>
          <p:nvPr/>
        </p:nvSpPr>
        <p:spPr>
          <a:xfrm>
            <a:off x="1378297" y="1714500"/>
            <a:ext cx="1625203"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Customer</a:t>
            </a:r>
            <a:endParaRPr lang="en-US" sz="1800" dirty="0"/>
          </a:p>
        </p:txBody>
      </p:sp>
      <p:sp>
        <p:nvSpPr>
          <p:cNvPr id="12" name="Text 10"/>
          <p:cNvSpPr/>
          <p:nvPr/>
        </p:nvSpPr>
        <p:spPr>
          <a:xfrm>
            <a:off x="1378297" y="2009775"/>
            <a:ext cx="1625203"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A8DAFF"/>
                </a:solidFill>
                <a:latin typeface="Arial" panose="020B0604020202020204" pitchFamily="34" charset="0"/>
                <a:ea typeface="Arial" panose="020B0604020202020204" pitchFamily="34" charset="-122"/>
                <a:cs typeface="Arial" panose="020B0604020202020204" pitchFamily="34" charset="-120"/>
              </a:rPr>
              <a:t>External User</a:t>
            </a:r>
            <a:endParaRPr lang="en-US" sz="1800" dirty="0"/>
          </a:p>
        </p:txBody>
      </p:sp>
      <p:sp>
        <p:nvSpPr>
          <p:cNvPr id="13" name="Shape 11"/>
          <p:cNvSpPr/>
          <p:nvPr/>
        </p:nvSpPr>
        <p:spPr>
          <a:xfrm>
            <a:off x="685800" y="2457450"/>
            <a:ext cx="8305800" cy="4295775"/>
          </a:xfrm>
          <a:prstGeom prst="rect">
            <a:avLst/>
          </a:prstGeom>
          <a:solidFill>
            <a:srgbClr val="1A55B8"/>
          </a:solidFill>
          <a:ln w="9525">
            <a:solidFill>
              <a:srgbClr val="FFFFFF">
                <a:alpha val="25000"/>
              </a:srgbClr>
            </a:solidFill>
            <a:prstDash val="solid"/>
          </a:ln>
        </p:spPr>
      </p:sp>
      <p:sp>
        <p:nvSpPr>
          <p:cNvPr id="14" name="Shape 12"/>
          <p:cNvSpPr/>
          <p:nvPr/>
        </p:nvSpPr>
        <p:spPr>
          <a:xfrm>
            <a:off x="695325" y="3314700"/>
            <a:ext cx="8286750" cy="9525"/>
          </a:xfrm>
          <a:prstGeom prst="rect">
            <a:avLst/>
          </a:prstGeom>
          <a:solidFill>
            <a:srgbClr val="FFFFFF">
              <a:alpha val="12000"/>
            </a:srgbClr>
          </a:solidFill>
        </p:spPr>
      </p:sp>
      <p:sp>
        <p:nvSpPr>
          <p:cNvPr id="15" name="Shape 13"/>
          <p:cNvSpPr/>
          <p:nvPr/>
        </p:nvSpPr>
        <p:spPr>
          <a:xfrm>
            <a:off x="885825" y="2657475"/>
            <a:ext cx="57150" cy="57150"/>
          </a:xfrm>
          <a:prstGeom prst="ellipse">
            <a:avLst/>
          </a:prstGeom>
          <a:solidFill>
            <a:srgbClr val="34D399"/>
          </a:solidFill>
        </p:spPr>
      </p:sp>
      <p:sp>
        <p:nvSpPr>
          <p:cNvPr id="16" name="Text 14"/>
          <p:cNvSpPr/>
          <p:nvPr/>
        </p:nvSpPr>
        <p:spPr>
          <a:xfrm>
            <a:off x="1057275" y="2571750"/>
            <a:ext cx="7421526"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Dashboard</a:t>
            </a:r>
            <a:endParaRPr lang="en-US" sz="1800" dirty="0"/>
          </a:p>
        </p:txBody>
      </p:sp>
      <p:sp>
        <p:nvSpPr>
          <p:cNvPr id="17" name="Text 15"/>
          <p:cNvSpPr/>
          <p:nvPr/>
        </p:nvSpPr>
        <p:spPr>
          <a:xfrm>
            <a:off x="1057275" y="2867025"/>
            <a:ext cx="7421526"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Personal account info, subscription count, and received change notices</a:t>
            </a:r>
            <a:endParaRPr lang="en-US" sz="1800" dirty="0"/>
          </a:p>
        </p:txBody>
      </p:sp>
      <p:sp>
        <p:nvSpPr>
          <p:cNvPr id="18" name="Shape 16"/>
          <p:cNvSpPr/>
          <p:nvPr/>
        </p:nvSpPr>
        <p:spPr>
          <a:xfrm>
            <a:off x="695325" y="4171950"/>
            <a:ext cx="8286750" cy="9525"/>
          </a:xfrm>
          <a:prstGeom prst="rect">
            <a:avLst/>
          </a:prstGeom>
          <a:solidFill>
            <a:srgbClr val="FFFFFF">
              <a:alpha val="12000"/>
            </a:srgbClr>
          </a:solidFill>
        </p:spPr>
      </p:sp>
      <p:sp>
        <p:nvSpPr>
          <p:cNvPr id="19" name="Shape 17"/>
          <p:cNvSpPr/>
          <p:nvPr/>
        </p:nvSpPr>
        <p:spPr>
          <a:xfrm>
            <a:off x="885825" y="3514725"/>
            <a:ext cx="57150" cy="57150"/>
          </a:xfrm>
          <a:prstGeom prst="ellipse">
            <a:avLst/>
          </a:prstGeom>
          <a:solidFill>
            <a:srgbClr val="34D399"/>
          </a:solidFill>
        </p:spPr>
      </p:sp>
      <p:sp>
        <p:nvSpPr>
          <p:cNvPr id="20" name="Text 18"/>
          <p:cNvSpPr/>
          <p:nvPr/>
        </p:nvSpPr>
        <p:spPr>
          <a:xfrm>
            <a:off x="1057275" y="3429000"/>
            <a:ext cx="6029932"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Subscriptions</a:t>
            </a:r>
            <a:endParaRPr lang="en-US" sz="1800" dirty="0"/>
          </a:p>
        </p:txBody>
      </p:sp>
      <p:sp>
        <p:nvSpPr>
          <p:cNvPr id="21" name="Text 19"/>
          <p:cNvSpPr/>
          <p:nvPr/>
        </p:nvSpPr>
        <p:spPr>
          <a:xfrm>
            <a:off x="1057275" y="3724275"/>
            <a:ext cx="6029932"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View and manage subscribed regulations and their details</a:t>
            </a:r>
            <a:endParaRPr lang="en-US" sz="1800" dirty="0"/>
          </a:p>
        </p:txBody>
      </p:sp>
      <p:sp>
        <p:nvSpPr>
          <p:cNvPr id="22" name="Shape 20"/>
          <p:cNvSpPr/>
          <p:nvPr/>
        </p:nvSpPr>
        <p:spPr>
          <a:xfrm>
            <a:off x="695325" y="5029200"/>
            <a:ext cx="8286750" cy="9525"/>
          </a:xfrm>
          <a:prstGeom prst="rect">
            <a:avLst/>
          </a:prstGeom>
          <a:solidFill>
            <a:srgbClr val="FFFFFF">
              <a:alpha val="12000"/>
            </a:srgbClr>
          </a:solidFill>
        </p:spPr>
      </p:sp>
      <p:sp>
        <p:nvSpPr>
          <p:cNvPr id="23" name="Shape 21"/>
          <p:cNvSpPr/>
          <p:nvPr/>
        </p:nvSpPr>
        <p:spPr>
          <a:xfrm>
            <a:off x="885825" y="4371975"/>
            <a:ext cx="57150" cy="57150"/>
          </a:xfrm>
          <a:prstGeom prst="ellipse">
            <a:avLst/>
          </a:prstGeom>
          <a:solidFill>
            <a:srgbClr val="34D399"/>
          </a:solidFill>
        </p:spPr>
      </p:sp>
      <p:sp>
        <p:nvSpPr>
          <p:cNvPr id="24" name="Text 22"/>
          <p:cNvSpPr/>
          <p:nvPr/>
        </p:nvSpPr>
        <p:spPr>
          <a:xfrm>
            <a:off x="1057275" y="4286250"/>
            <a:ext cx="629191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Change Notices</a:t>
            </a:r>
            <a:endParaRPr lang="en-US" sz="1800" dirty="0"/>
          </a:p>
        </p:txBody>
      </p:sp>
      <p:sp>
        <p:nvSpPr>
          <p:cNvPr id="25" name="Text 23"/>
          <p:cNvSpPr/>
          <p:nvPr/>
        </p:nvSpPr>
        <p:spPr>
          <a:xfrm>
            <a:off x="1057275" y="4581525"/>
            <a:ext cx="6291910"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View updates and changes related to subscribed regulations</a:t>
            </a:r>
            <a:endParaRPr lang="en-US" sz="1800" dirty="0"/>
          </a:p>
        </p:txBody>
      </p:sp>
      <p:sp>
        <p:nvSpPr>
          <p:cNvPr id="26" name="Shape 24"/>
          <p:cNvSpPr/>
          <p:nvPr/>
        </p:nvSpPr>
        <p:spPr>
          <a:xfrm>
            <a:off x="695325" y="5886450"/>
            <a:ext cx="8286750" cy="9525"/>
          </a:xfrm>
          <a:prstGeom prst="rect">
            <a:avLst/>
          </a:prstGeom>
          <a:solidFill>
            <a:srgbClr val="FFFFFF">
              <a:alpha val="12000"/>
            </a:srgbClr>
          </a:solidFill>
        </p:spPr>
      </p:sp>
      <p:sp>
        <p:nvSpPr>
          <p:cNvPr id="27" name="Shape 25"/>
          <p:cNvSpPr/>
          <p:nvPr/>
        </p:nvSpPr>
        <p:spPr>
          <a:xfrm>
            <a:off x="885825" y="5229225"/>
            <a:ext cx="57150" cy="57150"/>
          </a:xfrm>
          <a:prstGeom prst="ellipse">
            <a:avLst/>
          </a:prstGeom>
          <a:solidFill>
            <a:srgbClr val="34D399"/>
          </a:solidFill>
        </p:spPr>
      </p:sp>
      <p:sp>
        <p:nvSpPr>
          <p:cNvPr id="28" name="Text 26"/>
          <p:cNvSpPr/>
          <p:nvPr/>
        </p:nvSpPr>
        <p:spPr>
          <a:xfrm>
            <a:off x="1057275" y="5143500"/>
            <a:ext cx="5706484"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Regulations</a:t>
            </a:r>
            <a:endParaRPr lang="en-US" sz="1800" dirty="0"/>
          </a:p>
        </p:txBody>
      </p:sp>
      <p:sp>
        <p:nvSpPr>
          <p:cNvPr id="29" name="Text 27"/>
          <p:cNvSpPr/>
          <p:nvPr/>
        </p:nvSpPr>
        <p:spPr>
          <a:xfrm>
            <a:off x="1057275" y="5438775"/>
            <a:ext cx="5706484"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Browse regulations based on subscription access level</a:t>
            </a:r>
            <a:endParaRPr lang="en-US" sz="1800" dirty="0"/>
          </a:p>
        </p:txBody>
      </p:sp>
      <p:sp>
        <p:nvSpPr>
          <p:cNvPr id="30" name="Shape 28"/>
          <p:cNvSpPr/>
          <p:nvPr/>
        </p:nvSpPr>
        <p:spPr>
          <a:xfrm>
            <a:off x="885825" y="6086475"/>
            <a:ext cx="57150" cy="57150"/>
          </a:xfrm>
          <a:prstGeom prst="ellipse">
            <a:avLst/>
          </a:prstGeom>
          <a:solidFill>
            <a:srgbClr val="34D399"/>
          </a:solidFill>
        </p:spPr>
      </p:sp>
      <p:sp>
        <p:nvSpPr>
          <p:cNvPr id="31" name="Text 29"/>
          <p:cNvSpPr/>
          <p:nvPr/>
        </p:nvSpPr>
        <p:spPr>
          <a:xfrm>
            <a:off x="1057275" y="6000750"/>
            <a:ext cx="501268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32" name="Text 30"/>
          <p:cNvSpPr/>
          <p:nvPr/>
        </p:nvSpPr>
        <p:spPr>
          <a:xfrm>
            <a:off x="1057275" y="6296025"/>
            <a:ext cx="5012680"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Raise and track grievances through the platform</a:t>
            </a:r>
            <a:endParaRPr lang="en-US" sz="1800" dirty="0"/>
          </a:p>
        </p:txBody>
      </p:sp>
      <p:sp>
        <p:nvSpPr>
          <p:cNvPr id="33" name="Shape 31"/>
          <p:cNvSpPr/>
          <p:nvPr/>
        </p:nvSpPr>
        <p:spPr>
          <a:xfrm>
            <a:off x="9296400" y="1533525"/>
            <a:ext cx="8305800" cy="923925"/>
          </a:xfrm>
          <a:prstGeom prst="roundRect">
            <a:avLst>
              <a:gd name="adj" fmla="val 12371"/>
            </a:avLst>
          </a:prstGeom>
          <a:solidFill>
            <a:srgbClr val="4A3000"/>
          </a:solidFill>
        </p:spPr>
      </p:sp>
      <p:sp>
        <p:nvSpPr>
          <p:cNvPr id="34" name="Shape 32"/>
          <p:cNvSpPr/>
          <p:nvPr/>
        </p:nvSpPr>
        <p:spPr>
          <a:xfrm>
            <a:off x="9296400" y="1533525"/>
            <a:ext cx="8305800" cy="9525"/>
          </a:xfrm>
          <a:prstGeom prst="rect">
            <a:avLst/>
          </a:prstGeom>
          <a:solidFill>
            <a:srgbClr val="FFFFFF">
              <a:alpha val="25000"/>
            </a:srgbClr>
          </a:solidFill>
        </p:spPr>
      </p:sp>
      <p:sp>
        <p:nvSpPr>
          <p:cNvPr id="35" name="Shape 33"/>
          <p:cNvSpPr/>
          <p:nvPr/>
        </p:nvSpPr>
        <p:spPr>
          <a:xfrm>
            <a:off x="9296400" y="1533525"/>
            <a:ext cx="9525" cy="923925"/>
          </a:xfrm>
          <a:prstGeom prst="rect">
            <a:avLst/>
          </a:prstGeom>
          <a:solidFill>
            <a:srgbClr val="FFFFFF">
              <a:alpha val="25000"/>
            </a:srgbClr>
          </a:solidFill>
        </p:spPr>
      </p:sp>
      <p:sp>
        <p:nvSpPr>
          <p:cNvPr id="36" name="Shape 34"/>
          <p:cNvSpPr/>
          <p:nvPr/>
        </p:nvSpPr>
        <p:spPr>
          <a:xfrm>
            <a:off x="17592675" y="1533525"/>
            <a:ext cx="9525" cy="923925"/>
          </a:xfrm>
          <a:prstGeom prst="rect">
            <a:avLst/>
          </a:prstGeom>
          <a:solidFill>
            <a:srgbClr val="FFFFFF">
              <a:alpha val="25000"/>
            </a:srgbClr>
          </a:solidFill>
        </p:spPr>
      </p:sp>
      <p:sp>
        <p:nvSpPr>
          <p:cNvPr id="37" name="Text 35"/>
          <p:cNvSpPr/>
          <p:nvPr/>
        </p:nvSpPr>
        <p:spPr>
          <a:xfrm>
            <a:off x="9534525" y="1833563"/>
            <a:ext cx="416272" cy="371475"/>
          </a:xfrm>
          <a:prstGeom prst="rect">
            <a:avLst/>
          </a:prstGeom>
          <a:noFill/>
        </p:spPr>
        <p:txBody>
          <a:bodyPr wrap="square" lIns="25400" tIns="25400" rIns="25400" bIns="25400" rtlCol="0" anchor="t">
            <a:normAutofit/>
          </a:bodyPr>
          <a:lstStyle/>
          <a:p>
            <a:pPr marL="0" indent="0" algn="l">
              <a:buNone/>
            </a:pPr>
            <a:r>
              <a:rPr lang="en-US" sz="1950"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950" dirty="0"/>
          </a:p>
        </p:txBody>
      </p:sp>
      <p:sp>
        <p:nvSpPr>
          <p:cNvPr id="38" name="Text 36"/>
          <p:cNvSpPr/>
          <p:nvPr/>
        </p:nvSpPr>
        <p:spPr>
          <a:xfrm>
            <a:off x="9988897" y="1714500"/>
            <a:ext cx="1556296"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Employee</a:t>
            </a:r>
            <a:endParaRPr lang="en-US" sz="1800" dirty="0"/>
          </a:p>
        </p:txBody>
      </p:sp>
      <p:sp>
        <p:nvSpPr>
          <p:cNvPr id="39" name="Text 37"/>
          <p:cNvSpPr/>
          <p:nvPr/>
        </p:nvSpPr>
        <p:spPr>
          <a:xfrm>
            <a:off x="9988897" y="2009775"/>
            <a:ext cx="1556296" cy="314325"/>
          </a:xfrm>
          <a:prstGeom prst="rect">
            <a:avLst/>
          </a:prstGeom>
          <a:noFill/>
        </p:spPr>
        <p:txBody>
          <a:bodyPr wrap="square" lIns="25400" tIns="25400" rIns="25400" bIns="25400" rtlCol="0" anchor="t">
            <a:normAutofit/>
          </a:bodyPr>
          <a:lstStyle/>
          <a:p>
            <a:pPr marL="0" indent="0" algn="l">
              <a:buNone/>
            </a:pPr>
            <a:r>
              <a:rPr lang="en-US" sz="1800" b="1" kern="0" spc="38" dirty="0">
                <a:solidFill>
                  <a:srgbClr val="A8DAFF"/>
                </a:solidFill>
                <a:latin typeface="Arial" panose="020B0604020202020204" pitchFamily="34" charset="0"/>
                <a:ea typeface="Arial" panose="020B0604020202020204" pitchFamily="34" charset="-122"/>
                <a:cs typeface="Arial" panose="020B0604020202020204" pitchFamily="34" charset="-120"/>
              </a:rPr>
              <a:t>Internal User</a:t>
            </a:r>
            <a:endParaRPr lang="en-US" sz="1800" dirty="0"/>
          </a:p>
        </p:txBody>
      </p:sp>
      <p:sp>
        <p:nvSpPr>
          <p:cNvPr id="40" name="Shape 38"/>
          <p:cNvSpPr/>
          <p:nvPr/>
        </p:nvSpPr>
        <p:spPr>
          <a:xfrm>
            <a:off x="9296400" y="2457450"/>
            <a:ext cx="8305800" cy="4295775"/>
          </a:xfrm>
          <a:prstGeom prst="rect">
            <a:avLst/>
          </a:prstGeom>
          <a:solidFill>
            <a:srgbClr val="1A55B8"/>
          </a:solidFill>
          <a:ln w="9525">
            <a:solidFill>
              <a:srgbClr val="FFFFFF">
                <a:alpha val="25000"/>
              </a:srgbClr>
            </a:solidFill>
            <a:prstDash val="solid"/>
          </a:ln>
        </p:spPr>
      </p:sp>
      <p:sp>
        <p:nvSpPr>
          <p:cNvPr id="41" name="Shape 39"/>
          <p:cNvSpPr/>
          <p:nvPr/>
        </p:nvSpPr>
        <p:spPr>
          <a:xfrm>
            <a:off x="9305925" y="3314700"/>
            <a:ext cx="8286750" cy="9525"/>
          </a:xfrm>
          <a:prstGeom prst="rect">
            <a:avLst/>
          </a:prstGeom>
          <a:solidFill>
            <a:srgbClr val="FFFFFF">
              <a:alpha val="12000"/>
            </a:srgbClr>
          </a:solidFill>
        </p:spPr>
      </p:sp>
      <p:sp>
        <p:nvSpPr>
          <p:cNvPr id="42" name="Shape 40"/>
          <p:cNvSpPr/>
          <p:nvPr/>
        </p:nvSpPr>
        <p:spPr>
          <a:xfrm>
            <a:off x="9496425" y="2657475"/>
            <a:ext cx="57150" cy="57150"/>
          </a:xfrm>
          <a:prstGeom prst="ellipse">
            <a:avLst/>
          </a:prstGeom>
          <a:solidFill>
            <a:srgbClr val="FCD34D"/>
          </a:solidFill>
        </p:spPr>
      </p:sp>
      <p:sp>
        <p:nvSpPr>
          <p:cNvPr id="43" name="Text 41"/>
          <p:cNvSpPr/>
          <p:nvPr/>
        </p:nvSpPr>
        <p:spPr>
          <a:xfrm>
            <a:off x="9667875" y="2571750"/>
            <a:ext cx="6661806"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Dashboard</a:t>
            </a:r>
            <a:endParaRPr lang="en-US" sz="1800" dirty="0"/>
          </a:p>
        </p:txBody>
      </p:sp>
      <p:sp>
        <p:nvSpPr>
          <p:cNvPr id="44" name="Text 42"/>
          <p:cNvSpPr/>
          <p:nvPr/>
        </p:nvSpPr>
        <p:spPr>
          <a:xfrm>
            <a:off x="9667875" y="2867025"/>
            <a:ext cx="6661806"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Employee profile, assigned work overview, and company details</a:t>
            </a:r>
            <a:endParaRPr lang="en-US" sz="1800" dirty="0"/>
          </a:p>
        </p:txBody>
      </p:sp>
      <p:sp>
        <p:nvSpPr>
          <p:cNvPr id="45" name="Shape 43"/>
          <p:cNvSpPr/>
          <p:nvPr/>
        </p:nvSpPr>
        <p:spPr>
          <a:xfrm>
            <a:off x="9305925" y="4171950"/>
            <a:ext cx="8286750" cy="9525"/>
          </a:xfrm>
          <a:prstGeom prst="rect">
            <a:avLst/>
          </a:prstGeom>
          <a:solidFill>
            <a:srgbClr val="FFFFFF">
              <a:alpha val="12000"/>
            </a:srgbClr>
          </a:solidFill>
        </p:spPr>
      </p:sp>
      <p:sp>
        <p:nvSpPr>
          <p:cNvPr id="46" name="Shape 44"/>
          <p:cNvSpPr/>
          <p:nvPr/>
        </p:nvSpPr>
        <p:spPr>
          <a:xfrm>
            <a:off x="9496425" y="3514725"/>
            <a:ext cx="57150" cy="57150"/>
          </a:xfrm>
          <a:prstGeom prst="ellipse">
            <a:avLst/>
          </a:prstGeom>
          <a:solidFill>
            <a:srgbClr val="FCD34D"/>
          </a:solidFill>
        </p:spPr>
      </p:sp>
      <p:sp>
        <p:nvSpPr>
          <p:cNvPr id="47" name="Text 45"/>
          <p:cNvSpPr/>
          <p:nvPr/>
        </p:nvSpPr>
        <p:spPr>
          <a:xfrm>
            <a:off x="9667875" y="3429000"/>
            <a:ext cx="6749336"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Regulatory Assignments</a:t>
            </a:r>
            <a:endParaRPr lang="en-US" sz="1800" dirty="0"/>
          </a:p>
        </p:txBody>
      </p:sp>
      <p:sp>
        <p:nvSpPr>
          <p:cNvPr id="48" name="Text 46"/>
          <p:cNvSpPr/>
          <p:nvPr/>
        </p:nvSpPr>
        <p:spPr>
          <a:xfrm>
            <a:off x="9667875" y="3724275"/>
            <a:ext cx="6749336"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View tasks and regulations specifically assigned to the employee</a:t>
            </a:r>
            <a:endParaRPr lang="en-US" sz="1800" dirty="0"/>
          </a:p>
        </p:txBody>
      </p:sp>
      <p:sp>
        <p:nvSpPr>
          <p:cNvPr id="49" name="Shape 47"/>
          <p:cNvSpPr/>
          <p:nvPr/>
        </p:nvSpPr>
        <p:spPr>
          <a:xfrm>
            <a:off x="9305925" y="5029200"/>
            <a:ext cx="8286750" cy="9525"/>
          </a:xfrm>
          <a:prstGeom prst="rect">
            <a:avLst/>
          </a:prstGeom>
          <a:solidFill>
            <a:srgbClr val="FFFFFF">
              <a:alpha val="12000"/>
            </a:srgbClr>
          </a:solidFill>
        </p:spPr>
      </p:sp>
      <p:sp>
        <p:nvSpPr>
          <p:cNvPr id="50" name="Shape 48"/>
          <p:cNvSpPr/>
          <p:nvPr/>
        </p:nvSpPr>
        <p:spPr>
          <a:xfrm>
            <a:off x="9496425" y="4371975"/>
            <a:ext cx="57150" cy="57150"/>
          </a:xfrm>
          <a:prstGeom prst="ellipse">
            <a:avLst/>
          </a:prstGeom>
          <a:solidFill>
            <a:srgbClr val="FCD34D"/>
          </a:solidFill>
        </p:spPr>
      </p:sp>
      <p:sp>
        <p:nvSpPr>
          <p:cNvPr id="51" name="Text 49"/>
          <p:cNvSpPr/>
          <p:nvPr/>
        </p:nvSpPr>
        <p:spPr>
          <a:xfrm>
            <a:off x="9667875" y="4286250"/>
            <a:ext cx="5850579"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Change Notices</a:t>
            </a:r>
            <a:endParaRPr lang="en-US" sz="1800" dirty="0"/>
          </a:p>
        </p:txBody>
      </p:sp>
      <p:sp>
        <p:nvSpPr>
          <p:cNvPr id="52" name="Text 50"/>
          <p:cNvSpPr/>
          <p:nvPr/>
        </p:nvSpPr>
        <p:spPr>
          <a:xfrm>
            <a:off x="9667875" y="4581525"/>
            <a:ext cx="5850579"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Regulatory updates relevant to assigned work and tasks</a:t>
            </a:r>
            <a:endParaRPr lang="en-US" sz="1800" dirty="0"/>
          </a:p>
        </p:txBody>
      </p:sp>
      <p:sp>
        <p:nvSpPr>
          <p:cNvPr id="53" name="Shape 51"/>
          <p:cNvSpPr/>
          <p:nvPr/>
        </p:nvSpPr>
        <p:spPr>
          <a:xfrm>
            <a:off x="9305925" y="5886450"/>
            <a:ext cx="8286750" cy="9525"/>
          </a:xfrm>
          <a:prstGeom prst="rect">
            <a:avLst/>
          </a:prstGeom>
          <a:solidFill>
            <a:srgbClr val="FFFFFF">
              <a:alpha val="12000"/>
            </a:srgbClr>
          </a:solidFill>
        </p:spPr>
      </p:sp>
      <p:sp>
        <p:nvSpPr>
          <p:cNvPr id="54" name="Shape 52"/>
          <p:cNvSpPr/>
          <p:nvPr/>
        </p:nvSpPr>
        <p:spPr>
          <a:xfrm>
            <a:off x="9496425" y="5229225"/>
            <a:ext cx="57150" cy="57150"/>
          </a:xfrm>
          <a:prstGeom prst="ellipse">
            <a:avLst/>
          </a:prstGeom>
          <a:solidFill>
            <a:srgbClr val="FCD34D"/>
          </a:solidFill>
        </p:spPr>
      </p:sp>
      <p:sp>
        <p:nvSpPr>
          <p:cNvPr id="55" name="Text 53"/>
          <p:cNvSpPr/>
          <p:nvPr/>
        </p:nvSpPr>
        <p:spPr>
          <a:xfrm>
            <a:off x="9667875" y="5143500"/>
            <a:ext cx="5077983"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Regulations</a:t>
            </a:r>
            <a:endParaRPr lang="en-US" sz="1800" dirty="0"/>
          </a:p>
        </p:txBody>
      </p:sp>
      <p:sp>
        <p:nvSpPr>
          <p:cNvPr id="56" name="Text 54"/>
          <p:cNvSpPr/>
          <p:nvPr/>
        </p:nvSpPr>
        <p:spPr>
          <a:xfrm>
            <a:off x="9667875" y="5438775"/>
            <a:ext cx="5077983"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Browse regulations relevant to their assignments</a:t>
            </a:r>
            <a:endParaRPr lang="en-US" sz="1800" dirty="0"/>
          </a:p>
        </p:txBody>
      </p:sp>
      <p:sp>
        <p:nvSpPr>
          <p:cNvPr id="57" name="Shape 55"/>
          <p:cNvSpPr/>
          <p:nvPr/>
        </p:nvSpPr>
        <p:spPr>
          <a:xfrm>
            <a:off x="9496425" y="6086475"/>
            <a:ext cx="57150" cy="57150"/>
          </a:xfrm>
          <a:prstGeom prst="ellipse">
            <a:avLst/>
          </a:prstGeom>
          <a:solidFill>
            <a:srgbClr val="FCD34D"/>
          </a:solidFill>
        </p:spPr>
      </p:sp>
      <p:sp>
        <p:nvSpPr>
          <p:cNvPr id="58" name="Text 56"/>
          <p:cNvSpPr/>
          <p:nvPr/>
        </p:nvSpPr>
        <p:spPr>
          <a:xfrm>
            <a:off x="9667875" y="6000750"/>
            <a:ext cx="5353450" cy="33337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Grievances</a:t>
            </a:r>
            <a:endParaRPr lang="en-US" sz="1800" dirty="0"/>
          </a:p>
        </p:txBody>
      </p:sp>
      <p:sp>
        <p:nvSpPr>
          <p:cNvPr id="59" name="Text 57"/>
          <p:cNvSpPr/>
          <p:nvPr/>
        </p:nvSpPr>
        <p:spPr>
          <a:xfrm>
            <a:off x="9667875" y="6296025"/>
            <a:ext cx="5353450" cy="381000"/>
          </a:xfrm>
          <a:prstGeom prst="rect">
            <a:avLst/>
          </a:prstGeom>
          <a:noFill/>
        </p:spPr>
        <p:txBody>
          <a:bodyPr wrap="square" lIns="25400" tIns="25400" rIns="25400" bIns="25400" rtlCol="0" anchor="t">
            <a:normAutofit/>
          </a:bodyPr>
          <a:lstStyle/>
          <a:p>
            <a:pPr marL="0" indent="0" algn="l">
              <a:lnSpc>
                <a:spcPct val="150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Raise and manage grievances through the platform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713480" y="2583180"/>
            <a:ext cx="9874250" cy="53873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AZURE FUNCTION</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eCFR Sync — Every 24 Hours</a:t>
            </a:r>
            <a:endParaRPr lang="en-US" sz="3000" dirty="0"/>
          </a:p>
        </p:txBody>
      </p:sp>
      <p:sp>
        <p:nvSpPr>
          <p:cNvPr id="6" name="Shape 4"/>
          <p:cNvSpPr/>
          <p:nvPr/>
        </p:nvSpPr>
        <p:spPr>
          <a:xfrm>
            <a:off x="685800" y="1571625"/>
            <a:ext cx="4369147" cy="466725"/>
          </a:xfrm>
          <a:prstGeom prst="roundRect">
            <a:avLst>
              <a:gd name="adj" fmla="val 50000"/>
            </a:avLst>
          </a:prstGeom>
          <a:solidFill>
            <a:srgbClr val="4EEDB5">
              <a:alpha val="15000"/>
            </a:srgbClr>
          </a:solidFill>
          <a:ln w="9525">
            <a:solidFill>
              <a:srgbClr val="4EEDB5">
                <a:alpha val="40000"/>
              </a:srgbClr>
            </a:solidFill>
            <a:prstDash val="solid"/>
          </a:ln>
        </p:spPr>
      </p:sp>
      <p:sp>
        <p:nvSpPr>
          <p:cNvPr id="7" name="Shape 5"/>
          <p:cNvSpPr/>
          <p:nvPr/>
        </p:nvSpPr>
        <p:spPr>
          <a:xfrm>
            <a:off x="893402" y="1774465"/>
            <a:ext cx="61045" cy="61045"/>
          </a:xfrm>
          <a:prstGeom prst="ellipse">
            <a:avLst/>
          </a:prstGeom>
          <a:solidFill>
            <a:srgbClr val="4EEDB5">
              <a:alpha val="50000"/>
            </a:srgbClr>
          </a:solidFill>
        </p:spPr>
      </p:sp>
      <p:sp>
        <p:nvSpPr>
          <p:cNvPr id="8" name="Text 6"/>
          <p:cNvSpPr/>
          <p:nvPr/>
        </p:nvSpPr>
        <p:spPr>
          <a:xfrm>
            <a:off x="1038225" y="1657350"/>
            <a:ext cx="3931198" cy="333375"/>
          </a:xfrm>
          <a:prstGeom prst="rect">
            <a:avLst/>
          </a:prstGeom>
          <a:noFill/>
        </p:spPr>
        <p:txBody>
          <a:bodyPr wrap="square" lIns="0" tIns="0" rIns="0" bIns="0" rtlCol="0" anchor="t">
            <a:normAutofit/>
          </a:bodyPr>
          <a:lstStyle/>
          <a:p>
            <a:pPr marL="0" indent="0" algn="l">
              <a:buNone/>
            </a:pPr>
            <a:r>
              <a:rPr lang="en-US" sz="1800" b="1" dirty="0">
                <a:solidFill>
                  <a:srgbClr val="4EEDB5"/>
                </a:solidFill>
                <a:latin typeface="Arial" panose="020B0604020202020204" pitchFamily="34" charset="0"/>
                <a:ea typeface="Arial" panose="020B0604020202020204" pitchFamily="34" charset="-122"/>
                <a:cs typeface="Arial" panose="020B0604020202020204" pitchFamily="34" charset="-120"/>
              </a:rPr>
              <a:t>Runs every 24 hours automatically</a:t>
            </a:r>
            <a:endParaRPr lang="en-US" sz="1800" dirty="0"/>
          </a:p>
        </p:txBody>
      </p:sp>
      <p:sp>
        <p:nvSpPr>
          <p:cNvPr id="9" name="Text 7"/>
          <p:cNvSpPr/>
          <p:nvPr/>
        </p:nvSpPr>
        <p:spPr>
          <a:xfrm>
            <a:off x="5283547" y="1766888"/>
            <a:ext cx="3533556" cy="304800"/>
          </a:xfrm>
          <a:prstGeom prst="rect">
            <a:avLst/>
          </a:prstGeom>
          <a:noFill/>
        </p:spPr>
        <p:txBody>
          <a:bodyPr wrap="square" lIns="25400" tIns="25400" rIns="25400" bIns="25400" rtlCol="0" anchor="t">
            <a:normAutofit/>
          </a:bodyPr>
          <a:lstStyle/>
          <a:p>
            <a:pPr marL="0" indent="0" algn="l">
              <a:buNone/>
            </a:pPr>
            <a:r>
              <a:rPr lang="en-US" sz="1800" dirty="0">
                <a:solidFill>
                  <a:srgbClr val="D0E8FF"/>
                </a:solidFill>
                <a:latin typeface="Arial" panose="020B0604020202020204" pitchFamily="34" charset="0"/>
                <a:ea typeface="Arial" panose="020B0604020202020204" pitchFamily="34" charset="-122"/>
                <a:cs typeface="Arial" panose="020B0604020202020204" pitchFamily="34" charset="-120"/>
              </a:rPr>
              <a:t>Powered by Azure Timer Function</a:t>
            </a:r>
            <a:endParaRPr lang="en-US" sz="1800" dirty="0"/>
          </a:p>
        </p:txBody>
      </p:sp>
      <p:sp>
        <p:nvSpPr>
          <p:cNvPr id="10" name="Shape 8"/>
          <p:cNvSpPr/>
          <p:nvPr/>
        </p:nvSpPr>
        <p:spPr>
          <a:xfrm>
            <a:off x="685800" y="3880842"/>
            <a:ext cx="5308550" cy="1841897"/>
          </a:xfrm>
          <a:prstGeom prst="roundRect">
            <a:avLst>
              <a:gd name="adj" fmla="val 6206"/>
            </a:avLst>
          </a:prstGeom>
          <a:solidFill>
            <a:srgbClr val="1E60C8"/>
          </a:solidFill>
          <a:ln w="9525">
            <a:solidFill>
              <a:srgbClr val="FFFFFF">
                <a:alpha val="40000"/>
              </a:srgbClr>
            </a:solidFill>
            <a:prstDash val="solid"/>
          </a:ln>
        </p:spPr>
      </p:sp>
      <p:sp>
        <p:nvSpPr>
          <p:cNvPr id="11" name="Text 9"/>
          <p:cNvSpPr/>
          <p:nvPr/>
        </p:nvSpPr>
        <p:spPr>
          <a:xfrm>
            <a:off x="904875" y="4080867"/>
            <a:ext cx="5016512" cy="33337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7EC8FF"/>
                </a:solidFill>
                <a:latin typeface="Arial" panose="020B0604020202020204" pitchFamily="34" charset="0"/>
                <a:ea typeface="Arial" panose="020B0604020202020204" pitchFamily="34" charset="-122"/>
                <a:cs typeface="Arial" panose="020B0604020202020204" pitchFamily="34" charset="-120"/>
              </a:rPr>
              <a:t>STEP 01</a:t>
            </a:r>
            <a:endParaRPr lang="en-US" sz="1800" dirty="0"/>
          </a:p>
        </p:txBody>
      </p:sp>
      <p:sp>
        <p:nvSpPr>
          <p:cNvPr id="12" name="Text 10"/>
          <p:cNvSpPr/>
          <p:nvPr/>
        </p:nvSpPr>
        <p:spPr>
          <a:xfrm>
            <a:off x="904875" y="4433292"/>
            <a:ext cx="5016512"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Trigger</a:t>
            </a:r>
            <a:endParaRPr lang="en-US" sz="1950" dirty="0"/>
          </a:p>
        </p:txBody>
      </p:sp>
      <p:sp>
        <p:nvSpPr>
          <p:cNvPr id="13" name="Text 11"/>
          <p:cNvSpPr/>
          <p:nvPr/>
        </p:nvSpPr>
        <p:spPr>
          <a:xfrm>
            <a:off x="904875" y="4814292"/>
            <a:ext cx="5016512"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Azure Timer Function fires on its 24-hour schedule, initiating the sync process</a:t>
            </a:r>
            <a:endParaRPr lang="en-US" sz="1800" dirty="0"/>
          </a:p>
        </p:txBody>
      </p:sp>
      <p:pic>
        <p:nvPicPr>
          <p:cNvPr id="14" name="Image 0" descr="preencoded.png"/>
          <p:cNvPicPr>
            <a:picLocks noChangeAspect="1"/>
          </p:cNvPicPr>
          <p:nvPr/>
        </p:nvPicPr>
        <p:blipFill>
          <a:blip r:embed="rId1"/>
          <a:stretch>
            <a:fillRect/>
          </a:stretch>
        </p:blipFill>
        <p:spPr>
          <a:xfrm>
            <a:off x="6146750" y="4706541"/>
            <a:ext cx="190500" cy="190500"/>
          </a:xfrm>
          <a:prstGeom prst="rect">
            <a:avLst/>
          </a:prstGeom>
        </p:spPr>
      </p:pic>
      <p:sp>
        <p:nvSpPr>
          <p:cNvPr id="15" name="Shape 12"/>
          <p:cNvSpPr/>
          <p:nvPr/>
        </p:nvSpPr>
        <p:spPr>
          <a:xfrm>
            <a:off x="6489650" y="3880842"/>
            <a:ext cx="5308699" cy="1841897"/>
          </a:xfrm>
          <a:prstGeom prst="roundRect">
            <a:avLst>
              <a:gd name="adj" fmla="val 6206"/>
            </a:avLst>
          </a:prstGeom>
          <a:solidFill>
            <a:srgbClr val="1A55B8"/>
          </a:solidFill>
          <a:ln w="9525">
            <a:solidFill>
              <a:srgbClr val="FFFFFF">
                <a:alpha val="25000"/>
              </a:srgbClr>
            </a:solidFill>
            <a:prstDash val="solid"/>
          </a:ln>
        </p:spPr>
      </p:sp>
      <p:sp>
        <p:nvSpPr>
          <p:cNvPr id="16" name="Text 13"/>
          <p:cNvSpPr/>
          <p:nvPr/>
        </p:nvSpPr>
        <p:spPr>
          <a:xfrm>
            <a:off x="6708725" y="4080867"/>
            <a:ext cx="5016666" cy="33337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7EC8FF"/>
                </a:solidFill>
                <a:latin typeface="Arial" panose="020B0604020202020204" pitchFamily="34" charset="0"/>
                <a:ea typeface="Arial" panose="020B0604020202020204" pitchFamily="34" charset="-122"/>
                <a:cs typeface="Arial" panose="020B0604020202020204" pitchFamily="34" charset="-120"/>
              </a:rPr>
              <a:t>STEP 02</a:t>
            </a:r>
            <a:endParaRPr lang="en-US" sz="1800" dirty="0"/>
          </a:p>
        </p:txBody>
      </p:sp>
      <p:sp>
        <p:nvSpPr>
          <p:cNvPr id="17" name="Text 14"/>
          <p:cNvSpPr/>
          <p:nvPr/>
        </p:nvSpPr>
        <p:spPr>
          <a:xfrm>
            <a:off x="6708725" y="4433292"/>
            <a:ext cx="5016666"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Fetch from eCFR</a:t>
            </a:r>
            <a:endParaRPr lang="en-US" sz="1950" dirty="0"/>
          </a:p>
        </p:txBody>
      </p:sp>
      <p:sp>
        <p:nvSpPr>
          <p:cNvPr id="18" name="Text 15"/>
          <p:cNvSpPr/>
          <p:nvPr/>
        </p:nvSpPr>
        <p:spPr>
          <a:xfrm>
            <a:off x="6708725" y="4814292"/>
            <a:ext cx="5016666"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Pulls the latest regulatory data from the Electronic Code of Federal Regulations API</a:t>
            </a:r>
            <a:endParaRPr lang="en-US" sz="1800" dirty="0"/>
          </a:p>
        </p:txBody>
      </p:sp>
      <p:pic>
        <p:nvPicPr>
          <p:cNvPr id="19" name="Image 1" descr="preencoded.png"/>
          <p:cNvPicPr>
            <a:picLocks noChangeAspect="1"/>
          </p:cNvPicPr>
          <p:nvPr/>
        </p:nvPicPr>
        <p:blipFill>
          <a:blip r:embed="rId1"/>
          <a:stretch>
            <a:fillRect/>
          </a:stretch>
        </p:blipFill>
        <p:spPr>
          <a:xfrm>
            <a:off x="11950750" y="4706541"/>
            <a:ext cx="190500" cy="190500"/>
          </a:xfrm>
          <a:prstGeom prst="rect">
            <a:avLst/>
          </a:prstGeom>
        </p:spPr>
      </p:pic>
      <p:sp>
        <p:nvSpPr>
          <p:cNvPr id="20" name="Shape 16"/>
          <p:cNvSpPr/>
          <p:nvPr/>
        </p:nvSpPr>
        <p:spPr>
          <a:xfrm>
            <a:off x="12293650" y="3880842"/>
            <a:ext cx="5308550" cy="1841897"/>
          </a:xfrm>
          <a:prstGeom prst="roundRect">
            <a:avLst>
              <a:gd name="adj" fmla="val 6206"/>
            </a:avLst>
          </a:prstGeom>
          <a:solidFill>
            <a:srgbClr val="1A55B8"/>
          </a:solidFill>
          <a:ln w="9525">
            <a:solidFill>
              <a:srgbClr val="FFFFFF">
                <a:alpha val="25000"/>
              </a:srgbClr>
            </a:solidFill>
            <a:prstDash val="solid"/>
          </a:ln>
        </p:spPr>
      </p:sp>
      <p:sp>
        <p:nvSpPr>
          <p:cNvPr id="21" name="Text 17"/>
          <p:cNvSpPr/>
          <p:nvPr/>
        </p:nvSpPr>
        <p:spPr>
          <a:xfrm>
            <a:off x="12512725" y="4080867"/>
            <a:ext cx="5016512" cy="33337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7EC8FF"/>
                </a:solidFill>
                <a:latin typeface="Arial" panose="020B0604020202020204" pitchFamily="34" charset="0"/>
                <a:ea typeface="Arial" panose="020B0604020202020204" pitchFamily="34" charset="-122"/>
                <a:cs typeface="Arial" panose="020B0604020202020204" pitchFamily="34" charset="-120"/>
              </a:rPr>
              <a:t>STEP 03</a:t>
            </a:r>
            <a:endParaRPr lang="en-US" sz="1800" dirty="0"/>
          </a:p>
        </p:txBody>
      </p:sp>
      <p:sp>
        <p:nvSpPr>
          <p:cNvPr id="22" name="Text 18"/>
          <p:cNvSpPr/>
          <p:nvPr/>
        </p:nvSpPr>
        <p:spPr>
          <a:xfrm>
            <a:off x="12512725" y="4433292"/>
            <a:ext cx="5016512"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Compare</a:t>
            </a:r>
            <a:endParaRPr lang="en-US" sz="1950" dirty="0"/>
          </a:p>
        </p:txBody>
      </p:sp>
      <p:sp>
        <p:nvSpPr>
          <p:cNvPr id="23" name="Text 19"/>
          <p:cNvSpPr/>
          <p:nvPr/>
        </p:nvSpPr>
        <p:spPr>
          <a:xfrm>
            <a:off x="12512725" y="4814292"/>
            <a:ext cx="5016512"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Fetched data is compared against existing records in the database to detect changes</a:t>
            </a:r>
            <a:endParaRPr lang="en-US" sz="1800" dirty="0"/>
          </a:p>
        </p:txBody>
      </p:sp>
      <p:sp>
        <p:nvSpPr>
          <p:cNvPr id="24" name="Shape 20"/>
          <p:cNvSpPr/>
          <p:nvPr/>
        </p:nvSpPr>
        <p:spPr>
          <a:xfrm>
            <a:off x="685800" y="5932289"/>
            <a:ext cx="5308550" cy="2550319"/>
          </a:xfrm>
          <a:prstGeom prst="roundRect">
            <a:avLst>
              <a:gd name="adj" fmla="val 4482"/>
            </a:avLst>
          </a:prstGeom>
          <a:solidFill>
            <a:srgbClr val="1A55B8"/>
          </a:solidFill>
          <a:ln w="9525">
            <a:solidFill>
              <a:srgbClr val="FFFFFF">
                <a:alpha val="25000"/>
              </a:srgbClr>
            </a:solidFill>
            <a:prstDash val="solid"/>
          </a:ln>
        </p:spPr>
      </p:sp>
      <p:sp>
        <p:nvSpPr>
          <p:cNvPr id="25" name="Text 21"/>
          <p:cNvSpPr/>
          <p:nvPr/>
        </p:nvSpPr>
        <p:spPr>
          <a:xfrm>
            <a:off x="904875" y="6132314"/>
            <a:ext cx="5016512" cy="33337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7EC8FF"/>
                </a:solidFill>
                <a:latin typeface="Arial" panose="020B0604020202020204" pitchFamily="34" charset="0"/>
                <a:ea typeface="Arial" panose="020B0604020202020204" pitchFamily="34" charset="-122"/>
                <a:cs typeface="Arial" panose="020B0604020202020204" pitchFamily="34" charset="-120"/>
              </a:rPr>
              <a:t>STEP 04</a:t>
            </a:r>
            <a:endParaRPr lang="en-US" sz="1800" dirty="0"/>
          </a:p>
        </p:txBody>
      </p:sp>
      <p:sp>
        <p:nvSpPr>
          <p:cNvPr id="26" name="Text 22"/>
          <p:cNvSpPr/>
          <p:nvPr/>
        </p:nvSpPr>
        <p:spPr>
          <a:xfrm>
            <a:off x="904875" y="6484739"/>
            <a:ext cx="5016512"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Insert / Update</a:t>
            </a:r>
            <a:endParaRPr lang="en-US" sz="1950" dirty="0"/>
          </a:p>
        </p:txBody>
      </p:sp>
      <p:sp>
        <p:nvSpPr>
          <p:cNvPr id="27" name="Text 23"/>
          <p:cNvSpPr/>
          <p:nvPr/>
        </p:nvSpPr>
        <p:spPr>
          <a:xfrm>
            <a:off x="904875" y="6865739"/>
            <a:ext cx="5016512"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New regulations are inserted; existing ones are updated to reflect the latest content</a:t>
            </a:r>
            <a:endParaRPr lang="en-US" sz="1800" dirty="0"/>
          </a:p>
        </p:txBody>
      </p:sp>
      <p:pic>
        <p:nvPicPr>
          <p:cNvPr id="28" name="Image 2" descr="preencoded.png"/>
          <p:cNvPicPr>
            <a:picLocks noChangeAspect="1"/>
          </p:cNvPicPr>
          <p:nvPr/>
        </p:nvPicPr>
        <p:blipFill>
          <a:blip r:embed="rId1"/>
          <a:stretch>
            <a:fillRect/>
          </a:stretch>
        </p:blipFill>
        <p:spPr>
          <a:xfrm>
            <a:off x="6146750" y="7112198"/>
            <a:ext cx="190500" cy="190500"/>
          </a:xfrm>
          <a:prstGeom prst="rect">
            <a:avLst/>
          </a:prstGeom>
        </p:spPr>
      </p:pic>
      <p:sp>
        <p:nvSpPr>
          <p:cNvPr id="29" name="Shape 24"/>
          <p:cNvSpPr/>
          <p:nvPr/>
        </p:nvSpPr>
        <p:spPr>
          <a:xfrm>
            <a:off x="6489650" y="5932289"/>
            <a:ext cx="5308699" cy="2550319"/>
          </a:xfrm>
          <a:prstGeom prst="roundRect">
            <a:avLst>
              <a:gd name="adj" fmla="val 4482"/>
            </a:avLst>
          </a:prstGeom>
          <a:solidFill>
            <a:srgbClr val="1E60C8"/>
          </a:solidFill>
          <a:ln w="9525">
            <a:solidFill>
              <a:srgbClr val="FFFFFF">
                <a:alpha val="40000"/>
              </a:srgbClr>
            </a:solidFill>
            <a:prstDash val="solid"/>
          </a:ln>
        </p:spPr>
      </p:sp>
      <p:sp>
        <p:nvSpPr>
          <p:cNvPr id="30" name="Text 25"/>
          <p:cNvSpPr/>
          <p:nvPr/>
        </p:nvSpPr>
        <p:spPr>
          <a:xfrm>
            <a:off x="6708725" y="6132314"/>
            <a:ext cx="5016666" cy="333375"/>
          </a:xfrm>
          <a:prstGeom prst="rect">
            <a:avLst/>
          </a:prstGeom>
          <a:noFill/>
        </p:spPr>
        <p:txBody>
          <a:bodyPr wrap="square" lIns="25400" tIns="25400" rIns="25400" bIns="25400" rtlCol="0" anchor="t">
            <a:normAutofit/>
          </a:bodyPr>
          <a:lstStyle/>
          <a:p>
            <a:pPr marL="0" indent="0" algn="l">
              <a:buNone/>
            </a:pPr>
            <a:r>
              <a:rPr lang="en-US" sz="1800" b="1" kern="0" spc="75" dirty="0">
                <a:solidFill>
                  <a:srgbClr val="7EC8FF"/>
                </a:solidFill>
                <a:latin typeface="Arial" panose="020B0604020202020204" pitchFamily="34" charset="0"/>
                <a:ea typeface="Arial" panose="020B0604020202020204" pitchFamily="34" charset="-122"/>
                <a:cs typeface="Arial" panose="020B0604020202020204" pitchFamily="34" charset="-120"/>
              </a:rPr>
              <a:t>STEP 05</a:t>
            </a:r>
            <a:endParaRPr lang="en-US" sz="1800" dirty="0"/>
          </a:p>
        </p:txBody>
      </p:sp>
      <p:sp>
        <p:nvSpPr>
          <p:cNvPr id="31" name="Text 26"/>
          <p:cNvSpPr/>
          <p:nvPr/>
        </p:nvSpPr>
        <p:spPr>
          <a:xfrm>
            <a:off x="6708725" y="6484739"/>
            <a:ext cx="5016666"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Create Notifications &amp; Change Notices</a:t>
            </a:r>
            <a:endParaRPr lang="en-US" sz="1950" dirty="0"/>
          </a:p>
        </p:txBody>
      </p:sp>
      <p:sp>
        <p:nvSpPr>
          <p:cNvPr id="32" name="Text 27"/>
          <p:cNvSpPr/>
          <p:nvPr/>
        </p:nvSpPr>
        <p:spPr>
          <a:xfrm>
            <a:off x="6708725" y="6865739"/>
            <a:ext cx="5016666" cy="1454944"/>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If changes are detected, notification records are created for all subscribed users and </a:t>
            </a:r>
            <a:r>
              <a:rPr lang="en-US" sz="1800" b="1" dirty="0">
                <a:solidFill>
                  <a:srgbClr val="7EC8FF"/>
                </a:solidFill>
                <a:latin typeface="Arial" panose="020B0604020202020204" pitchFamily="34" charset="0"/>
                <a:ea typeface="Arial" panose="020B0604020202020204" pitchFamily="34" charset="-122"/>
                <a:cs typeface="Arial" panose="020B0604020202020204" pitchFamily="34" charset="-120"/>
              </a:rPr>
              <a:t>Change Notices are also inserted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into the system automatically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ECFR SYNC · END TO END FLOW</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eCFR Regulation Sync Process</a:t>
            </a:r>
            <a:endParaRPr lang="en-US" sz="3000" dirty="0"/>
          </a:p>
        </p:txBody>
      </p:sp>
      <p:sp>
        <p:nvSpPr>
          <p:cNvPr id="6" name="Shape 4"/>
          <p:cNvSpPr/>
          <p:nvPr/>
        </p:nvSpPr>
        <p:spPr>
          <a:xfrm>
            <a:off x="381000" y="1419225"/>
            <a:ext cx="17526000" cy="8677275"/>
          </a:xfrm>
          <a:prstGeom prst="roundRect">
            <a:avLst>
              <a:gd name="adj" fmla="val 1098"/>
            </a:avLst>
          </a:prstGeom>
          <a:ln w="9525">
            <a:solidFill>
              <a:srgbClr val="FFFFFF">
                <a:alpha val="20000"/>
              </a:srgbClr>
            </a:solidFill>
            <a:prstDash val="solid"/>
          </a:ln>
        </p:spPr>
      </p:sp>
      <p:pic>
        <p:nvPicPr>
          <p:cNvPr id="7" name="Image 0" descr="preencoded.png"/>
          <p:cNvPicPr>
            <a:picLocks noChangeAspect="1"/>
          </p:cNvPicPr>
          <p:nvPr/>
        </p:nvPicPr>
        <p:blipFill>
          <a:blip r:embed="rId1"/>
          <a:srcRect/>
          <a:stretch>
            <a:fillRect/>
          </a:stretch>
        </p:blipFill>
        <p:spPr>
          <a:xfrm>
            <a:off x="381000" y="1419225"/>
            <a:ext cx="17526000" cy="8677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AZURE FUNCTION · OUTBOX PATTERN · SERVICE BUS</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 Email Engine</a:t>
            </a:r>
            <a:endParaRPr lang="en-US" sz="3000" dirty="0"/>
          </a:p>
        </p:txBody>
      </p:sp>
      <p:sp>
        <p:nvSpPr>
          <p:cNvPr id="6" name="Shape 4"/>
          <p:cNvSpPr/>
          <p:nvPr/>
        </p:nvSpPr>
        <p:spPr>
          <a:xfrm>
            <a:off x="685800" y="1495425"/>
            <a:ext cx="8305800" cy="1432322"/>
          </a:xfrm>
          <a:prstGeom prst="roundRect">
            <a:avLst>
              <a:gd name="adj" fmla="val 7980"/>
            </a:avLst>
          </a:prstGeom>
          <a:solidFill>
            <a:srgbClr val="1E60C8"/>
          </a:solidFill>
          <a:ln w="9525">
            <a:solidFill>
              <a:srgbClr val="FFFFFF">
                <a:alpha val="40000"/>
              </a:srgbClr>
            </a:solidFill>
            <a:prstDash val="solid"/>
          </a:ln>
        </p:spPr>
      </p:sp>
      <p:sp>
        <p:nvSpPr>
          <p:cNvPr id="7" name="Shape 5"/>
          <p:cNvSpPr/>
          <p:nvPr/>
        </p:nvSpPr>
        <p:spPr>
          <a:xfrm>
            <a:off x="923925" y="1676400"/>
            <a:ext cx="342900" cy="342900"/>
          </a:xfrm>
          <a:prstGeom prst="ellipse">
            <a:avLst/>
          </a:prstGeom>
          <a:solidFill>
            <a:srgbClr val="FFFFFF">
              <a:alpha val="25000"/>
            </a:srgbClr>
          </a:solidFill>
        </p:spPr>
      </p:sp>
      <p:sp>
        <p:nvSpPr>
          <p:cNvPr id="8" name="Text 6"/>
          <p:cNvSpPr/>
          <p:nvPr/>
        </p:nvSpPr>
        <p:spPr>
          <a:xfrm>
            <a:off x="885825" y="1676400"/>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800" dirty="0"/>
          </a:p>
        </p:txBody>
      </p:sp>
      <p:sp>
        <p:nvSpPr>
          <p:cNvPr id="9" name="Text 7"/>
          <p:cNvSpPr/>
          <p:nvPr/>
        </p:nvSpPr>
        <p:spPr>
          <a:xfrm>
            <a:off x="1419225" y="1676400"/>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 Created</a:t>
            </a:r>
            <a:endParaRPr lang="en-US" sz="1950" dirty="0"/>
          </a:p>
        </p:txBody>
      </p:sp>
      <p:sp>
        <p:nvSpPr>
          <p:cNvPr id="10" name="Text 8"/>
          <p:cNvSpPr/>
          <p:nvPr/>
        </p:nvSpPr>
        <p:spPr>
          <a:xfrm>
            <a:off x="1419225" y="2038350"/>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 notification record is inserted into the </a:t>
            </a: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 History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table whenever a regulation change is detected</a:t>
            </a:r>
            <a:endParaRPr lang="en-US" sz="1800" dirty="0"/>
          </a:p>
        </p:txBody>
      </p:sp>
      <p:sp>
        <p:nvSpPr>
          <p:cNvPr id="11" name="Shape 9"/>
          <p:cNvSpPr/>
          <p:nvPr/>
        </p:nvSpPr>
        <p:spPr>
          <a:xfrm>
            <a:off x="685800" y="3308747"/>
            <a:ext cx="8305800" cy="1432322"/>
          </a:xfrm>
          <a:prstGeom prst="roundRect">
            <a:avLst>
              <a:gd name="adj" fmla="val 7980"/>
            </a:avLst>
          </a:prstGeom>
          <a:solidFill>
            <a:srgbClr val="1A55B8"/>
          </a:solidFill>
          <a:ln w="9525">
            <a:solidFill>
              <a:srgbClr val="FFFFFF">
                <a:alpha val="25000"/>
              </a:srgbClr>
            </a:solidFill>
            <a:prstDash val="solid"/>
          </a:ln>
        </p:spPr>
      </p:sp>
      <p:sp>
        <p:nvSpPr>
          <p:cNvPr id="12" name="Shape 10"/>
          <p:cNvSpPr/>
          <p:nvPr/>
        </p:nvSpPr>
        <p:spPr>
          <a:xfrm>
            <a:off x="923925" y="3489722"/>
            <a:ext cx="342900" cy="342900"/>
          </a:xfrm>
          <a:prstGeom prst="ellipse">
            <a:avLst/>
          </a:prstGeom>
          <a:solidFill>
            <a:srgbClr val="FFFFFF">
              <a:alpha val="25000"/>
            </a:srgbClr>
          </a:solidFill>
        </p:spPr>
      </p:sp>
      <p:sp>
        <p:nvSpPr>
          <p:cNvPr id="13" name="Text 11"/>
          <p:cNvSpPr/>
          <p:nvPr/>
        </p:nvSpPr>
        <p:spPr>
          <a:xfrm>
            <a:off x="885825" y="3489722"/>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800" dirty="0"/>
          </a:p>
        </p:txBody>
      </p:sp>
      <p:sp>
        <p:nvSpPr>
          <p:cNvPr id="14" name="Text 12"/>
          <p:cNvSpPr/>
          <p:nvPr/>
        </p:nvSpPr>
        <p:spPr>
          <a:xfrm>
            <a:off x="1419225" y="3489722"/>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Outbox Entry Added</a:t>
            </a:r>
            <a:endParaRPr lang="en-US" sz="1950" dirty="0"/>
          </a:p>
        </p:txBody>
      </p:sp>
      <p:sp>
        <p:nvSpPr>
          <p:cNvPr id="15" name="Text 13"/>
          <p:cNvSpPr/>
          <p:nvPr/>
        </p:nvSpPr>
        <p:spPr>
          <a:xfrm>
            <a:off x="1419225" y="3851672"/>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 corresponding record is added to the </a:t>
            </a: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Outbox table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 acting as a reliable queue for pending email messages</a:t>
            </a:r>
            <a:endParaRPr lang="en-US" sz="1800" dirty="0"/>
          </a:p>
        </p:txBody>
      </p:sp>
      <p:sp>
        <p:nvSpPr>
          <p:cNvPr id="16" name="Shape 14"/>
          <p:cNvSpPr/>
          <p:nvPr/>
        </p:nvSpPr>
        <p:spPr>
          <a:xfrm>
            <a:off x="685800" y="5122069"/>
            <a:ext cx="8305800" cy="1432322"/>
          </a:xfrm>
          <a:prstGeom prst="roundRect">
            <a:avLst>
              <a:gd name="adj" fmla="val 7980"/>
            </a:avLst>
          </a:prstGeom>
          <a:solidFill>
            <a:srgbClr val="1A55B8"/>
          </a:solidFill>
          <a:ln w="9525">
            <a:solidFill>
              <a:srgbClr val="FFFFFF">
                <a:alpha val="25000"/>
              </a:srgbClr>
            </a:solidFill>
            <a:prstDash val="solid"/>
          </a:ln>
        </p:spPr>
      </p:sp>
      <p:sp>
        <p:nvSpPr>
          <p:cNvPr id="17" name="Shape 15"/>
          <p:cNvSpPr/>
          <p:nvPr/>
        </p:nvSpPr>
        <p:spPr>
          <a:xfrm>
            <a:off x="923925" y="5303044"/>
            <a:ext cx="342900" cy="342900"/>
          </a:xfrm>
          <a:prstGeom prst="ellipse">
            <a:avLst/>
          </a:prstGeom>
          <a:solidFill>
            <a:srgbClr val="FFFFFF">
              <a:alpha val="25000"/>
            </a:srgbClr>
          </a:solidFill>
        </p:spPr>
      </p:sp>
      <p:sp>
        <p:nvSpPr>
          <p:cNvPr id="18" name="Text 16"/>
          <p:cNvSpPr/>
          <p:nvPr/>
        </p:nvSpPr>
        <p:spPr>
          <a:xfrm>
            <a:off x="885825" y="5303044"/>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800" dirty="0"/>
          </a:p>
        </p:txBody>
      </p:sp>
      <p:sp>
        <p:nvSpPr>
          <p:cNvPr id="19" name="Text 17"/>
          <p:cNvSpPr/>
          <p:nvPr/>
        </p:nvSpPr>
        <p:spPr>
          <a:xfrm>
            <a:off x="1419225" y="5303044"/>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Timer Function → Service Bus</a:t>
            </a:r>
            <a:endParaRPr lang="en-US" sz="1950" dirty="0"/>
          </a:p>
        </p:txBody>
      </p:sp>
      <p:sp>
        <p:nvSpPr>
          <p:cNvPr id="20" name="Text 18"/>
          <p:cNvSpPr/>
          <p:nvPr/>
        </p:nvSpPr>
        <p:spPr>
          <a:xfrm>
            <a:off x="1419225" y="5664994"/>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Azure Timer Function (every 2 min) polls the Outbox for pending records and publishes each message to the </a:t>
            </a: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Azure Service Bus</a:t>
            </a:r>
            <a:endParaRPr lang="en-US" sz="1800" dirty="0"/>
          </a:p>
        </p:txBody>
      </p:sp>
      <p:sp>
        <p:nvSpPr>
          <p:cNvPr id="21" name="Shape 19"/>
          <p:cNvSpPr/>
          <p:nvPr/>
        </p:nvSpPr>
        <p:spPr>
          <a:xfrm>
            <a:off x="9296400" y="1495425"/>
            <a:ext cx="8305800" cy="1432322"/>
          </a:xfrm>
          <a:prstGeom prst="roundRect">
            <a:avLst>
              <a:gd name="adj" fmla="val 7980"/>
            </a:avLst>
          </a:prstGeom>
          <a:solidFill>
            <a:srgbClr val="1E60C8"/>
          </a:solidFill>
          <a:ln w="9525">
            <a:solidFill>
              <a:srgbClr val="FFFFFF">
                <a:alpha val="40000"/>
              </a:srgbClr>
            </a:solidFill>
            <a:prstDash val="solid"/>
          </a:ln>
        </p:spPr>
      </p:sp>
      <p:sp>
        <p:nvSpPr>
          <p:cNvPr id="22" name="Shape 20"/>
          <p:cNvSpPr/>
          <p:nvPr/>
        </p:nvSpPr>
        <p:spPr>
          <a:xfrm>
            <a:off x="9534525" y="1676400"/>
            <a:ext cx="342900" cy="342900"/>
          </a:xfrm>
          <a:prstGeom prst="ellipse">
            <a:avLst/>
          </a:prstGeom>
          <a:solidFill>
            <a:srgbClr val="FFFFFF">
              <a:alpha val="25000"/>
            </a:srgbClr>
          </a:solidFill>
        </p:spPr>
      </p:sp>
      <p:sp>
        <p:nvSpPr>
          <p:cNvPr id="23" name="Text 21"/>
          <p:cNvSpPr/>
          <p:nvPr/>
        </p:nvSpPr>
        <p:spPr>
          <a:xfrm>
            <a:off x="9496425" y="1676400"/>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800" dirty="0"/>
          </a:p>
        </p:txBody>
      </p:sp>
      <p:sp>
        <p:nvSpPr>
          <p:cNvPr id="24" name="Text 22"/>
          <p:cNvSpPr/>
          <p:nvPr/>
        </p:nvSpPr>
        <p:spPr>
          <a:xfrm>
            <a:off x="10029825" y="1676400"/>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Service Bus Triggered</a:t>
            </a:r>
            <a:endParaRPr lang="en-US" sz="1950" dirty="0"/>
          </a:p>
        </p:txBody>
      </p:sp>
      <p:sp>
        <p:nvSpPr>
          <p:cNvPr id="25" name="Text 23"/>
          <p:cNvSpPr/>
          <p:nvPr/>
        </p:nvSpPr>
        <p:spPr>
          <a:xfrm>
            <a:off x="10029825" y="2038350"/>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The </a:t>
            </a: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Service Bus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is triggered by the incoming message and dispatches it to the email service for processing</a:t>
            </a:r>
            <a:endParaRPr lang="en-US" sz="1800" dirty="0"/>
          </a:p>
        </p:txBody>
      </p:sp>
      <p:sp>
        <p:nvSpPr>
          <p:cNvPr id="26" name="Shape 24"/>
          <p:cNvSpPr/>
          <p:nvPr/>
        </p:nvSpPr>
        <p:spPr>
          <a:xfrm>
            <a:off x="9296400" y="3308747"/>
            <a:ext cx="8305800" cy="1432322"/>
          </a:xfrm>
          <a:prstGeom prst="roundRect">
            <a:avLst>
              <a:gd name="adj" fmla="val 7980"/>
            </a:avLst>
          </a:prstGeom>
          <a:solidFill>
            <a:srgbClr val="1A55B8"/>
          </a:solidFill>
          <a:ln w="9525">
            <a:solidFill>
              <a:srgbClr val="FFFFFF">
                <a:alpha val="25000"/>
              </a:srgbClr>
            </a:solidFill>
            <a:prstDash val="solid"/>
          </a:ln>
        </p:spPr>
      </p:sp>
      <p:sp>
        <p:nvSpPr>
          <p:cNvPr id="27" name="Shape 25"/>
          <p:cNvSpPr/>
          <p:nvPr/>
        </p:nvSpPr>
        <p:spPr>
          <a:xfrm>
            <a:off x="9534525" y="3489722"/>
            <a:ext cx="342900" cy="342900"/>
          </a:xfrm>
          <a:prstGeom prst="ellipse">
            <a:avLst/>
          </a:prstGeom>
          <a:solidFill>
            <a:srgbClr val="FFFFFF">
              <a:alpha val="25000"/>
            </a:srgbClr>
          </a:solidFill>
        </p:spPr>
      </p:sp>
      <p:sp>
        <p:nvSpPr>
          <p:cNvPr id="28" name="Text 26"/>
          <p:cNvSpPr/>
          <p:nvPr/>
        </p:nvSpPr>
        <p:spPr>
          <a:xfrm>
            <a:off x="9496425" y="3489722"/>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800" dirty="0"/>
          </a:p>
        </p:txBody>
      </p:sp>
      <p:sp>
        <p:nvSpPr>
          <p:cNvPr id="29" name="Text 27"/>
          <p:cNvSpPr/>
          <p:nvPr/>
        </p:nvSpPr>
        <p:spPr>
          <a:xfrm>
            <a:off x="10029825" y="3489722"/>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Email Sent</a:t>
            </a:r>
            <a:endParaRPr lang="en-US" sz="1950" dirty="0"/>
          </a:p>
        </p:txBody>
      </p:sp>
      <p:sp>
        <p:nvSpPr>
          <p:cNvPr id="30" name="Text 28"/>
          <p:cNvSpPr/>
          <p:nvPr/>
        </p:nvSpPr>
        <p:spPr>
          <a:xfrm>
            <a:off x="10029825" y="3851672"/>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The email service attempts delivery. Each attempt — success or failure — is recorded in the </a:t>
            </a: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Notification Sent History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table</a:t>
            </a:r>
            <a:endParaRPr lang="en-US" sz="1800" dirty="0"/>
          </a:p>
        </p:txBody>
      </p:sp>
      <p:sp>
        <p:nvSpPr>
          <p:cNvPr id="31" name="Shape 29"/>
          <p:cNvSpPr/>
          <p:nvPr/>
        </p:nvSpPr>
        <p:spPr>
          <a:xfrm>
            <a:off x="9296400" y="5122069"/>
            <a:ext cx="8305800" cy="1432322"/>
          </a:xfrm>
          <a:prstGeom prst="roundRect">
            <a:avLst>
              <a:gd name="adj" fmla="val 7980"/>
            </a:avLst>
          </a:prstGeom>
          <a:solidFill>
            <a:srgbClr val="1A55B8"/>
          </a:solidFill>
          <a:ln w="9525">
            <a:solidFill>
              <a:srgbClr val="FFFFFF">
                <a:alpha val="25000"/>
              </a:srgbClr>
            </a:solidFill>
            <a:prstDash val="solid"/>
          </a:ln>
        </p:spPr>
      </p:sp>
      <p:sp>
        <p:nvSpPr>
          <p:cNvPr id="32" name="Shape 30"/>
          <p:cNvSpPr/>
          <p:nvPr/>
        </p:nvSpPr>
        <p:spPr>
          <a:xfrm>
            <a:off x="9534525" y="5303044"/>
            <a:ext cx="342900" cy="342900"/>
          </a:xfrm>
          <a:prstGeom prst="ellipse">
            <a:avLst/>
          </a:prstGeom>
          <a:solidFill>
            <a:srgbClr val="FFFFFF">
              <a:alpha val="25000"/>
            </a:srgbClr>
          </a:solidFill>
        </p:spPr>
      </p:sp>
      <p:sp>
        <p:nvSpPr>
          <p:cNvPr id="33" name="Text 31"/>
          <p:cNvSpPr/>
          <p:nvPr/>
        </p:nvSpPr>
        <p:spPr>
          <a:xfrm>
            <a:off x="9496425" y="5303044"/>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800" dirty="0"/>
          </a:p>
        </p:txBody>
      </p:sp>
      <p:sp>
        <p:nvSpPr>
          <p:cNvPr id="34" name="Text 32"/>
          <p:cNvSpPr/>
          <p:nvPr/>
        </p:nvSpPr>
        <p:spPr>
          <a:xfrm>
            <a:off x="10029825" y="5303044"/>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Retry on Failure</a:t>
            </a:r>
            <a:endParaRPr lang="en-US" sz="1950" dirty="0"/>
          </a:p>
        </p:txBody>
      </p:sp>
      <p:sp>
        <p:nvSpPr>
          <p:cNvPr id="35" name="Text 33"/>
          <p:cNvSpPr/>
          <p:nvPr/>
        </p:nvSpPr>
        <p:spPr>
          <a:xfrm>
            <a:off x="10029825" y="5664994"/>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If delivery fails, the system retries based on a configured retry count — every attempt logged for full traceability</a:t>
            </a:r>
            <a:endParaRPr lang="en-US" sz="1800" dirty="0"/>
          </a:p>
        </p:txBody>
      </p:sp>
      <p:sp>
        <p:nvSpPr>
          <p:cNvPr id="36" name="Shape 34"/>
          <p:cNvSpPr/>
          <p:nvPr/>
        </p:nvSpPr>
        <p:spPr>
          <a:xfrm>
            <a:off x="13439775" y="6668691"/>
            <a:ext cx="19050" cy="152400"/>
          </a:xfrm>
          <a:prstGeom prst="rect">
            <a:avLst/>
          </a:prstGeom>
          <a:solidFill>
            <a:srgbClr val="FFFFFF">
              <a:alpha val="40000"/>
            </a:srgbClr>
          </a:solidFill>
        </p:spPr>
      </p:sp>
      <p:sp>
        <p:nvSpPr>
          <p:cNvPr id="37" name="Shape 35"/>
          <p:cNvSpPr/>
          <p:nvPr/>
        </p:nvSpPr>
        <p:spPr>
          <a:xfrm>
            <a:off x="9296400" y="6935391"/>
            <a:ext cx="8305800" cy="1432322"/>
          </a:xfrm>
          <a:prstGeom prst="roundRect">
            <a:avLst>
              <a:gd name="adj" fmla="val 7980"/>
            </a:avLst>
          </a:prstGeom>
          <a:solidFill>
            <a:srgbClr val="1A55B8"/>
          </a:solidFill>
          <a:ln w="9525">
            <a:solidFill>
              <a:srgbClr val="FFFFFF">
                <a:alpha val="25000"/>
              </a:srgbClr>
            </a:solidFill>
            <a:prstDash val="solid"/>
          </a:ln>
        </p:spPr>
      </p:sp>
      <p:sp>
        <p:nvSpPr>
          <p:cNvPr id="38" name="Shape 36"/>
          <p:cNvSpPr/>
          <p:nvPr/>
        </p:nvSpPr>
        <p:spPr>
          <a:xfrm>
            <a:off x="9534525" y="7116366"/>
            <a:ext cx="342900" cy="342900"/>
          </a:xfrm>
          <a:prstGeom prst="ellipse">
            <a:avLst/>
          </a:prstGeom>
          <a:solidFill>
            <a:srgbClr val="FFFFFF">
              <a:alpha val="25000"/>
            </a:srgbClr>
          </a:solidFill>
        </p:spPr>
      </p:sp>
      <p:sp>
        <p:nvSpPr>
          <p:cNvPr id="39" name="Text 37"/>
          <p:cNvSpPr/>
          <p:nvPr/>
        </p:nvSpPr>
        <p:spPr>
          <a:xfrm>
            <a:off x="9496425" y="7116366"/>
            <a:ext cx="419100" cy="381000"/>
          </a:xfrm>
          <a:prstGeom prst="rect">
            <a:avLst/>
          </a:prstGeom>
          <a:noFill/>
        </p:spPr>
        <p:txBody>
          <a:bodyPr wrap="square" lIns="25400" tIns="25400" rIns="25400" bIns="25400" rtlCol="0" anchor="ctr">
            <a:normAutofit/>
          </a:bodyP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7</a:t>
            </a:r>
            <a:endParaRPr lang="en-US" sz="1800" dirty="0"/>
          </a:p>
        </p:txBody>
      </p:sp>
      <p:sp>
        <p:nvSpPr>
          <p:cNvPr id="40" name="Text 38"/>
          <p:cNvSpPr/>
          <p:nvPr/>
        </p:nvSpPr>
        <p:spPr>
          <a:xfrm>
            <a:off x="10029825" y="7116366"/>
            <a:ext cx="7554278" cy="361950"/>
          </a:xfrm>
          <a:prstGeom prst="rect">
            <a:avLst/>
          </a:prstGeom>
          <a:noFill/>
        </p:spPr>
        <p:txBody>
          <a:bodyPr wrap="square" lIns="25400" tIns="25400" rIns="25400" bIns="25400" rtlCol="0" anchor="t">
            <a:normAutofit/>
          </a:bodyPr>
          <a:lstStyle/>
          <a:p>
            <a:pPr marL="0" indent="0" algn="l">
              <a:buNone/>
            </a:pPr>
            <a:r>
              <a:rPr lang="en-US" sz="1950" b="1" dirty="0">
                <a:solidFill>
                  <a:srgbClr val="FFFFFF"/>
                </a:solidFill>
                <a:latin typeface="Arial" panose="020B0604020202020204" pitchFamily="34" charset="0"/>
                <a:ea typeface="Arial" panose="020B0604020202020204" pitchFamily="34" charset="-122"/>
                <a:cs typeface="Arial" panose="020B0604020202020204" pitchFamily="34" charset="-120"/>
              </a:rPr>
              <a:t>Dead Letter Queue</a:t>
            </a:r>
            <a:endParaRPr lang="en-US" sz="1950" dirty="0"/>
          </a:p>
        </p:txBody>
      </p:sp>
      <p:sp>
        <p:nvSpPr>
          <p:cNvPr id="41" name="Text 39"/>
          <p:cNvSpPr/>
          <p:nvPr/>
        </p:nvSpPr>
        <p:spPr>
          <a:xfrm>
            <a:off x="10029825" y="7478316"/>
            <a:ext cx="7554278" cy="746522"/>
          </a:xfrm>
          <a:prstGeom prst="rect">
            <a:avLst/>
          </a:prstGeom>
          <a:noFill/>
        </p:spPr>
        <p:txBody>
          <a:bodyPr wrap="square" lIns="25400" tIns="25400" rIns="25400" bIns="25400" rtlCol="0" anchor="t">
            <a:normAutofit/>
          </a:bodyPr>
          <a:lstStyle/>
          <a:p>
            <a:pPr marL="0" indent="0" algn="l">
              <a:lnSpc>
                <a:spcPct val="155000"/>
              </a:lnSpc>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If all retry attempts are exhausted and delivery still fails, the message is moved to the </a:t>
            </a:r>
            <a:r>
              <a:rPr lang="en-US" sz="1800" b="1" dirty="0">
                <a:solidFill>
                  <a:srgbClr val="7EC8FF"/>
                </a:solidFill>
                <a:latin typeface="Arial" panose="020B0604020202020204" pitchFamily="34" charset="0"/>
                <a:ea typeface="Arial" panose="020B0604020202020204" pitchFamily="34" charset="-122"/>
                <a:cs typeface="Arial" panose="020B0604020202020204" pitchFamily="34" charset="-120"/>
              </a:rPr>
              <a:t>Dead Letter Queue </a:t>
            </a: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for manual inspection and recovery</a:t>
            </a:r>
            <a:endParaRPr lang="en-US" sz="1800" dirty="0"/>
          </a:p>
        </p:txBody>
      </p:sp>
      <p:sp>
        <p:nvSpPr>
          <p:cNvPr id="42" name="Shape 40"/>
          <p:cNvSpPr/>
          <p:nvPr/>
        </p:nvSpPr>
        <p:spPr>
          <a:xfrm>
            <a:off x="9296400" y="8558213"/>
            <a:ext cx="4086225" cy="1171575"/>
          </a:xfrm>
          <a:prstGeom prst="roundRect">
            <a:avLst>
              <a:gd name="adj" fmla="val 8130"/>
            </a:avLst>
          </a:prstGeom>
          <a:solidFill>
            <a:srgbClr val="0A4A38"/>
          </a:solidFill>
          <a:ln w="9525">
            <a:solidFill>
              <a:srgbClr val="FFFFFF">
                <a:alpha val="25000"/>
              </a:srgbClr>
            </a:solidFill>
            <a:prstDash val="solid"/>
          </a:ln>
        </p:spPr>
      </p:sp>
      <p:sp>
        <p:nvSpPr>
          <p:cNvPr id="43" name="Text 41"/>
          <p:cNvSpPr/>
          <p:nvPr/>
        </p:nvSpPr>
        <p:spPr>
          <a:xfrm>
            <a:off x="9458325" y="8701088"/>
            <a:ext cx="3875246" cy="352425"/>
          </a:xfrm>
          <a:prstGeom prst="rect">
            <a:avLst/>
          </a:prstGeom>
          <a:noFill/>
        </p:spPr>
        <p:txBody>
          <a:bodyPr wrap="square" lIns="25400" tIns="25400" rIns="25400" bIns="25400" rtlCol="0" anchor="t">
            <a:normAutofit/>
          </a:bodyPr>
          <a:lstStyle/>
          <a:p>
            <a:pPr marL="0" indent="0" algn="l">
              <a:buNone/>
            </a:pPr>
            <a:r>
              <a:rPr lang="en-US" sz="1800" b="1" dirty="0">
                <a:solidFill>
                  <a:srgbClr val="34D399"/>
                </a:solidFill>
                <a:latin typeface="Arial" panose="020B0604020202020204" pitchFamily="34" charset="0"/>
                <a:ea typeface="Arial" panose="020B0604020202020204" pitchFamily="34" charset="-122"/>
                <a:cs typeface="Arial" panose="020B0604020202020204" pitchFamily="34" charset="-120"/>
              </a:rPr>
              <a:t>✓ No Lost Notifications</a:t>
            </a:r>
            <a:endParaRPr lang="en-US" sz="1800" dirty="0"/>
          </a:p>
        </p:txBody>
      </p:sp>
      <p:sp>
        <p:nvSpPr>
          <p:cNvPr id="44" name="Text 42"/>
          <p:cNvSpPr/>
          <p:nvPr/>
        </p:nvSpPr>
        <p:spPr>
          <a:xfrm>
            <a:off x="9458325" y="9053513"/>
            <a:ext cx="3875246" cy="5715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Outbox + Service Bus guarantee delivery</a:t>
            </a:r>
            <a:endParaRPr lang="en-US" sz="1800" dirty="0"/>
          </a:p>
        </p:txBody>
      </p:sp>
      <p:sp>
        <p:nvSpPr>
          <p:cNvPr id="45" name="Shape 43"/>
          <p:cNvSpPr/>
          <p:nvPr/>
        </p:nvSpPr>
        <p:spPr>
          <a:xfrm>
            <a:off x="13515975" y="8558213"/>
            <a:ext cx="4086225" cy="1171575"/>
          </a:xfrm>
          <a:prstGeom prst="roundRect">
            <a:avLst>
              <a:gd name="adj" fmla="val 8130"/>
            </a:avLst>
          </a:prstGeom>
          <a:solidFill>
            <a:srgbClr val="1243A0"/>
          </a:solidFill>
          <a:ln w="9525">
            <a:solidFill>
              <a:srgbClr val="FFFFFF">
                <a:alpha val="25000"/>
              </a:srgbClr>
            </a:solidFill>
            <a:prstDash val="solid"/>
          </a:ln>
        </p:spPr>
      </p:sp>
      <p:sp>
        <p:nvSpPr>
          <p:cNvPr id="46" name="Text 44"/>
          <p:cNvSpPr/>
          <p:nvPr/>
        </p:nvSpPr>
        <p:spPr>
          <a:xfrm>
            <a:off x="13677900" y="8701088"/>
            <a:ext cx="3875246" cy="352425"/>
          </a:xfrm>
          <a:prstGeom prst="rect">
            <a:avLst/>
          </a:prstGeom>
          <a:noFill/>
        </p:spPr>
        <p:txBody>
          <a:bodyPr wrap="square" lIns="25400" tIns="25400" rIns="25400" bIns="25400" rtlCol="0" anchor="t">
            <a:normAutofit/>
          </a:bodyPr>
          <a:lstStyle/>
          <a:p>
            <a:pPr marL="0" indent="0" algn="l">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 Full Audit Trail</a:t>
            </a:r>
            <a:endParaRPr lang="en-US" sz="1800" dirty="0"/>
          </a:p>
        </p:txBody>
      </p:sp>
      <p:sp>
        <p:nvSpPr>
          <p:cNvPr id="47" name="Text 45"/>
          <p:cNvSpPr/>
          <p:nvPr/>
        </p:nvSpPr>
        <p:spPr>
          <a:xfrm>
            <a:off x="13677900" y="9053513"/>
            <a:ext cx="3875246" cy="571500"/>
          </a:xfrm>
          <a:prstGeom prst="rect">
            <a:avLst/>
          </a:prstGeom>
          <a:noFill/>
        </p:spPr>
        <p:txBody>
          <a:bodyPr wrap="square" lIns="25400" tIns="25400" rIns="25400" bIns="25400" rtlCol="0" anchor="t">
            <a:normAutofit/>
          </a:bodyPr>
          <a:lstStyle/>
          <a:p>
            <a:pPr marL="0" indent="0" algn="l">
              <a:buNone/>
            </a:pPr>
            <a:r>
              <a:rPr lang="en-US" sz="1800" dirty="0">
                <a:solidFill>
                  <a:srgbClr val="FFFFFF"/>
                </a:solidFill>
                <a:latin typeface="Arial" panose="020B0604020202020204" pitchFamily="34" charset="0"/>
                <a:ea typeface="Arial" panose="020B0604020202020204" pitchFamily="34" charset="-122"/>
                <a:cs typeface="Arial" panose="020B0604020202020204" pitchFamily="34" charset="-120"/>
              </a:rPr>
              <a:t>Every attempt logged with timestamp and outcome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43A0"/>
        </a:solidFill>
        <a:effectLst/>
      </p:bgPr>
    </p:bg>
    <p:spTree>
      <p:nvGrpSpPr>
        <p:cNvPr id="1" name=""/>
        <p:cNvGrpSpPr/>
        <p:nvPr/>
      </p:nvGrpSpPr>
      <p:grpSpPr>
        <a:xfrm>
          <a:off x="0" y="0"/>
          <a:ext cx="0" cy="0"/>
          <a:chOff x="0" y="0"/>
          <a:chExt cx="0" cy="0"/>
        </a:xfrm>
      </p:grpSpPr>
      <p:sp>
        <p:nvSpPr>
          <p:cNvPr id="2" name="Shape 0"/>
          <p:cNvSpPr/>
          <p:nvPr/>
        </p:nvSpPr>
        <p:spPr>
          <a:xfrm>
            <a:off x="0" y="0"/>
            <a:ext cx="18288000" cy="1228725"/>
          </a:xfrm>
          <a:prstGeom prst="rect">
            <a:avLst/>
          </a:prstGeom>
          <a:solidFill>
            <a:srgbClr val="0A2460"/>
          </a:solidFill>
        </p:spPr>
      </p:sp>
      <p:sp>
        <p:nvSpPr>
          <p:cNvPr id="3" name="Shape 1"/>
          <p:cNvSpPr/>
          <p:nvPr/>
        </p:nvSpPr>
        <p:spPr>
          <a:xfrm>
            <a:off x="0" y="1209675"/>
            <a:ext cx="18288000" cy="19050"/>
          </a:xfrm>
          <a:prstGeom prst="rect">
            <a:avLst/>
          </a:prstGeom>
          <a:solidFill>
            <a:srgbClr val="FFFFFF">
              <a:alpha val="20000"/>
            </a:srgbClr>
          </a:solidFill>
        </p:spPr>
      </p:sp>
      <p:sp>
        <p:nvSpPr>
          <p:cNvPr id="4" name="Text 2"/>
          <p:cNvSpPr/>
          <p:nvPr/>
        </p:nvSpPr>
        <p:spPr>
          <a:xfrm>
            <a:off x="685800" y="228600"/>
            <a:ext cx="17423892" cy="333375"/>
          </a:xfrm>
          <a:prstGeom prst="rect">
            <a:avLst/>
          </a:prstGeom>
          <a:noFill/>
        </p:spPr>
        <p:txBody>
          <a:bodyPr wrap="square" lIns="25400" tIns="25400" rIns="25400" bIns="25400" rtlCol="0" anchor="t">
            <a:normAutofit/>
          </a:bodyPr>
          <a:lstStyle/>
          <a:p>
            <a:pPr marL="0" indent="0" algn="l">
              <a:buNone/>
            </a:pPr>
            <a:r>
              <a:rPr lang="en-US" sz="1800" b="1" kern="0" spc="150" dirty="0">
                <a:solidFill>
                  <a:srgbClr val="7EC8FF"/>
                </a:solidFill>
                <a:latin typeface="Arial" panose="020B0604020202020204" pitchFamily="34" charset="0"/>
                <a:ea typeface="Arial" panose="020B0604020202020204" pitchFamily="34" charset="-122"/>
                <a:cs typeface="Arial" panose="020B0604020202020204" pitchFamily="34" charset="-120"/>
              </a:rPr>
              <a:t>NOTIFICATION SYSTEM · ARCHITECTURE</a:t>
            </a:r>
            <a:endParaRPr lang="en-US" sz="1800" dirty="0"/>
          </a:p>
        </p:txBody>
      </p:sp>
      <p:sp>
        <p:nvSpPr>
          <p:cNvPr id="5" name="Text 3"/>
          <p:cNvSpPr/>
          <p:nvPr/>
        </p:nvSpPr>
        <p:spPr>
          <a:xfrm>
            <a:off x="685800" y="561975"/>
            <a:ext cx="17423892" cy="457200"/>
          </a:xfrm>
          <a:prstGeom prst="rect">
            <a:avLst/>
          </a:prstGeom>
          <a:noFill/>
        </p:spPr>
        <p:txBody>
          <a:bodyPr wrap="square" lIns="25400" tIns="25400" rIns="25400" bIns="25400" rtlCol="0" anchor="t">
            <a:normAutofit/>
          </a:bodyPr>
          <a:lstStyle/>
          <a:p>
            <a:pPr marL="0" indent="0" algn="l">
              <a:lnSpc>
                <a:spcPct val="110000"/>
              </a:lnSpc>
              <a:buNone/>
            </a:pPr>
            <a:r>
              <a:rPr lang="en-US" sz="3000" b="1" dirty="0">
                <a:solidFill>
                  <a:srgbClr val="FFFFFF"/>
                </a:solidFill>
                <a:latin typeface="Arial" panose="020B0604020202020204" pitchFamily="34" charset="0"/>
                <a:ea typeface="Arial" panose="020B0604020202020204" pitchFamily="34" charset="-122"/>
                <a:cs typeface="Arial" panose="020B0604020202020204" pitchFamily="34" charset="-120"/>
              </a:rPr>
              <a:t>Regulation Change Notification Overview</a:t>
            </a:r>
            <a:endParaRPr lang="en-US" sz="3000" dirty="0"/>
          </a:p>
        </p:txBody>
      </p:sp>
      <p:sp>
        <p:nvSpPr>
          <p:cNvPr id="6" name="Shape 4"/>
          <p:cNvSpPr/>
          <p:nvPr/>
        </p:nvSpPr>
        <p:spPr>
          <a:xfrm>
            <a:off x="381000" y="1419225"/>
            <a:ext cx="17526000" cy="8677275"/>
          </a:xfrm>
          <a:prstGeom prst="roundRect">
            <a:avLst>
              <a:gd name="adj" fmla="val 1098"/>
            </a:avLst>
          </a:prstGeom>
          <a:ln w="9525">
            <a:solidFill>
              <a:srgbClr val="FFFFFF">
                <a:alpha val="20000"/>
              </a:srgbClr>
            </a:solidFill>
            <a:prstDash val="solid"/>
          </a:ln>
        </p:spPr>
      </p:sp>
      <p:pic>
        <p:nvPicPr>
          <p:cNvPr id="8" name="Picture 7" descr="Change Notification OverView (2)"/>
          <p:cNvPicPr>
            <a:picLocks noChangeAspect="1"/>
          </p:cNvPicPr>
          <p:nvPr/>
        </p:nvPicPr>
        <p:blipFill>
          <a:blip r:embed="rId1"/>
          <a:srcRect t="12367"/>
          <a:stretch>
            <a:fillRect/>
          </a:stretch>
        </p:blipFill>
        <p:spPr>
          <a:xfrm>
            <a:off x="5870575" y="1209675"/>
            <a:ext cx="6546215" cy="85718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6936</Words>
  <Application>WPS Presentation</Application>
  <PresentationFormat>On-screen Show (16:9)</PresentationFormat>
  <Paragraphs>566</Paragraphs>
  <Slides>13</Slides>
  <Notes>12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WPS_1756104082</cp:lastModifiedBy>
  <cp:revision>6</cp:revision>
  <dcterms:created xsi:type="dcterms:W3CDTF">2026-04-22T13:56:00Z</dcterms:created>
  <dcterms:modified xsi:type="dcterms:W3CDTF">2026-04-24T14:20:16Z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46D233B6B39C4454A2847B1C2AFB09DF_12</vt:lpwstr>
  </property>
  <property fmtid="{D5CDD505-2E9C-101B-9397-08002B2CF9AE}" pid="3" name="KSOProductBuildVer">
    <vt:lpwstr>1033-12.1.0.25862</vt:lpwstr>
  </property>
</Properties>
</file>